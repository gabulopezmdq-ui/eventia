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4"/>
  </p:notesMasterIdLst>
  <p:sldIdLst>
    <p:sldId id="256" r:id="rId3"/>
    <p:sldId id="257" r:id="rId4"/>
    <p:sldId id="291" r:id="rId5"/>
    <p:sldId id="294" r:id="rId6"/>
    <p:sldId id="286" r:id="rId7"/>
    <p:sldId id="287" r:id="rId8"/>
    <p:sldId id="288" r:id="rId9"/>
    <p:sldId id="292" r:id="rId10"/>
    <p:sldId id="293" r:id="rId11"/>
    <p:sldId id="289" r:id="rId12"/>
    <p:sldId id="290" r:id="rId1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1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06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desplazar la diapositiva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2000" b="0" strike="noStrike" spc="-1">
                <a:latin typeface="Arial"/>
              </a:rPr>
              <a:t>Pulse para editar el formato de las notas</a:t>
            </a:r>
          </a:p>
        </p:txBody>
      </p:sp>
      <p:sp>
        <p:nvSpPr>
          <p:cNvPr id="1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&lt;cabecera&gt;</a:t>
            </a:r>
          </a:p>
        </p:txBody>
      </p:sp>
      <p:sp>
        <p:nvSpPr>
          <p:cNvPr id="11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/>
            <a:r>
              <a:rPr lang="es-AR" sz="1400" b="0" strike="noStrike" spc="-1">
                <a:latin typeface="Times New Roman"/>
              </a:rPr>
              <a:t>&lt;fecha/hora&gt;</a:t>
            </a:r>
          </a:p>
        </p:txBody>
      </p:sp>
      <p:sp>
        <p:nvSpPr>
          <p:cNvPr id="11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AR" sz="1400" b="0" strike="noStrike" spc="-1">
                <a:latin typeface="Times New Roman"/>
              </a:rPr>
              <a:t>&lt;pie de página&gt;</a:t>
            </a:r>
          </a:p>
        </p:txBody>
      </p:sp>
      <p:sp>
        <p:nvSpPr>
          <p:cNvPr id="11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/>
            <a:fld id="{25E1D73A-C896-4F10-8A1F-42DA976BB268}" type="slidenum">
              <a:rPr lang="es-AR" sz="1400" b="0" strike="noStrike" spc="-1">
                <a:latin typeface="Times New Roman"/>
              </a:rPr>
              <a:pPr algn="r"/>
              <a:t>‹Nº›</a:t>
            </a:fld>
            <a:endParaRPr lang="es-AR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87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2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9201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84157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3994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148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7443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55391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0368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1544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0155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1625" cy="3084513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880" cy="359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s-AR" sz="2000" b="0" strike="noStrike" spc="-1"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692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9669A908-0F06-4E47-960C-06257B12840D}" type="slidenum">
              <a:rPr lang="es-AR" sz="1200" b="0" strike="noStrike" spc="-1">
                <a:solidFill>
                  <a:srgbClr val="000000"/>
                </a:solid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s-AR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76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AR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s-A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s-AR" sz="4400" b="0" strike="noStrike" spc="-1">
                <a:latin typeface="Arial"/>
              </a:rPr>
              <a:t>Pulse para editar el formato del texto de título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strike="noStrike" spc="-1"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800" b="0" strike="noStrike" spc="-1"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400" b="0" strike="noStrike" spc="-1"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strike="noStrike" spc="-1"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strike="noStrike" spc="-1">
                <a:latin typeface="Arial"/>
              </a:rPr>
              <a:t>Séptimo nivel del esquema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920" y="980728"/>
            <a:ext cx="7858496" cy="208823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AR" sz="4400" b="0" strike="noStrike" spc="-1" dirty="0" smtClean="0">
                <a:solidFill>
                  <a:srgbClr val="FFFFFF"/>
                </a:solidFill>
                <a:latin typeface="Alfabet ExtraBold"/>
              </a:rPr>
              <a:t>Devolución de Subvenciones Docentes</a:t>
            </a:r>
            <a:endParaRPr lang="es-AR" sz="4400" b="0" strike="noStrike" spc="-1" dirty="0">
              <a:latin typeface="Arial"/>
            </a:endParaRPr>
          </a:p>
        </p:txBody>
      </p:sp>
      <p:pic>
        <p:nvPicPr>
          <p:cNvPr id="121" name="120 Imagen"/>
          <p:cNvPicPr/>
          <p:nvPr/>
        </p:nvPicPr>
        <p:blipFill>
          <a:blip r:embed="rId2" cstate="print"/>
          <a:stretch/>
        </p:blipFill>
        <p:spPr>
          <a:xfrm>
            <a:off x="180000" y="5396400"/>
            <a:ext cx="8819640" cy="144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 txBox="1">
            <a:spLocks/>
          </p:cNvSpPr>
          <p:nvPr/>
        </p:nvSpPr>
        <p:spPr>
          <a:xfrm>
            <a:off x="458552" y="3429000"/>
            <a:ext cx="8217904" cy="108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/>
            <a:r>
              <a:rPr lang="es-AR" sz="2800" kern="0" spc="-1" dirty="0" smtClean="0">
                <a:solidFill>
                  <a:srgbClr val="FFFFFF"/>
                </a:solidFill>
                <a:latin typeface="Alfabet ExtraBold"/>
              </a:rPr>
              <a:t>Instructivo 1 - Navegación</a:t>
            </a:r>
            <a:endParaRPr lang="es-AR" sz="2800" kern="0" spc="-1" dirty="0">
              <a:solidFill>
                <a:sysClr val="windowText" lastClr="000000"/>
              </a:solidFill>
              <a:latin typeface="Arial"/>
            </a:endParaRPr>
          </a:p>
        </p:txBody>
      </p:sp>
      <p:cxnSp>
        <p:nvCxnSpPr>
          <p:cNvPr id="3" name="Conector recto 2"/>
          <p:cNvCxnSpPr/>
          <p:nvPr/>
        </p:nvCxnSpPr>
        <p:spPr>
          <a:xfrm flipH="1">
            <a:off x="2843808" y="4581128"/>
            <a:ext cx="5832648" cy="0"/>
          </a:xfrm>
          <a:prstGeom prst="line">
            <a:avLst/>
          </a:prstGeom>
          <a:ln w="28575">
            <a:solidFill>
              <a:schemeClr val="bg1"/>
            </a:solidFill>
          </a:ln>
          <a:effectLst>
            <a:outerShdw blurRad="50800" dist="38100" dir="5400000" algn="t" rotWithShape="0">
              <a:schemeClr val="bg2"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16" y="1213742"/>
            <a:ext cx="8820472" cy="4599209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Áreas de un formulario de datos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2" name="CuadroTexto 2"/>
          <p:cNvSpPr/>
          <p:nvPr/>
        </p:nvSpPr>
        <p:spPr>
          <a:xfrm>
            <a:off x="3789575" y="2155879"/>
            <a:ext cx="2160240" cy="306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Búsquedas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3" name="CuadroTexto 2"/>
          <p:cNvSpPr/>
          <p:nvPr/>
        </p:nvSpPr>
        <p:spPr>
          <a:xfrm>
            <a:off x="5692914" y="1713946"/>
            <a:ext cx="2160240" cy="306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Filtros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4" name="CuadroTexto 2"/>
          <p:cNvSpPr/>
          <p:nvPr/>
        </p:nvSpPr>
        <p:spPr>
          <a:xfrm>
            <a:off x="1115616" y="1717866"/>
            <a:ext cx="2160240" cy="306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Nuevo Registro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5" name="CuadroTexto 2"/>
          <p:cNvSpPr/>
          <p:nvPr/>
        </p:nvSpPr>
        <p:spPr>
          <a:xfrm>
            <a:off x="4572000" y="3175605"/>
            <a:ext cx="2808312" cy="306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Edición de Registro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6" name="CuadroTexto 2"/>
          <p:cNvSpPr/>
          <p:nvPr/>
        </p:nvSpPr>
        <p:spPr>
          <a:xfrm>
            <a:off x="862740" y="2955557"/>
            <a:ext cx="3168352" cy="306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Orden de Registros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7" name="CuadroTexto 2"/>
          <p:cNvSpPr/>
          <p:nvPr/>
        </p:nvSpPr>
        <p:spPr>
          <a:xfrm>
            <a:off x="1691680" y="5301208"/>
            <a:ext cx="3168352" cy="306323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Paginado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8" name="CuadroTexto 2"/>
          <p:cNvSpPr/>
          <p:nvPr/>
        </p:nvSpPr>
        <p:spPr>
          <a:xfrm>
            <a:off x="5220072" y="4681165"/>
            <a:ext cx="3168352" cy="52176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Cantidad de Registros a mostrar por página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9" name="CuadroTexto 2"/>
          <p:cNvSpPr/>
          <p:nvPr/>
        </p:nvSpPr>
        <p:spPr>
          <a:xfrm>
            <a:off x="5188858" y="5301207"/>
            <a:ext cx="3168352" cy="3063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4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Cantidad Total de Registros</a:t>
            </a:r>
            <a:endParaRPr lang="es-AR" sz="14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3" name="Rectángulo redondeado 2"/>
          <p:cNvSpPr/>
          <p:nvPr/>
        </p:nvSpPr>
        <p:spPr>
          <a:xfrm>
            <a:off x="8028384" y="1713946"/>
            <a:ext cx="864096" cy="346902"/>
          </a:xfrm>
          <a:prstGeom prst="roundRect">
            <a:avLst/>
          </a:prstGeom>
          <a:noFill/>
          <a:ln w="28575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redondeado 19"/>
          <p:cNvSpPr/>
          <p:nvPr/>
        </p:nvSpPr>
        <p:spPr>
          <a:xfrm>
            <a:off x="6084168" y="2177771"/>
            <a:ext cx="2736304" cy="346902"/>
          </a:xfrm>
          <a:prstGeom prst="roundRect">
            <a:avLst/>
          </a:prstGeom>
          <a:noFill/>
          <a:ln w="28575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ectángulo redondeado 20"/>
          <p:cNvSpPr/>
          <p:nvPr/>
        </p:nvSpPr>
        <p:spPr>
          <a:xfrm>
            <a:off x="241454" y="1713946"/>
            <a:ext cx="766906" cy="346902"/>
          </a:xfrm>
          <a:prstGeom prst="roundRect">
            <a:avLst/>
          </a:prstGeom>
          <a:noFill/>
          <a:ln w="28575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 redondeado 21"/>
          <p:cNvSpPr/>
          <p:nvPr/>
        </p:nvSpPr>
        <p:spPr>
          <a:xfrm>
            <a:off x="7452320" y="3166444"/>
            <a:ext cx="720080" cy="346902"/>
          </a:xfrm>
          <a:prstGeom prst="roundRect">
            <a:avLst/>
          </a:prstGeom>
          <a:noFill/>
          <a:ln w="28575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redondeado 22"/>
          <p:cNvSpPr/>
          <p:nvPr/>
        </p:nvSpPr>
        <p:spPr>
          <a:xfrm>
            <a:off x="345298" y="5334883"/>
            <a:ext cx="1274373" cy="346902"/>
          </a:xfrm>
          <a:prstGeom prst="roundRect">
            <a:avLst/>
          </a:prstGeom>
          <a:noFill/>
          <a:ln w="28575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Rectángulo redondeado 23"/>
          <p:cNvSpPr/>
          <p:nvPr/>
        </p:nvSpPr>
        <p:spPr>
          <a:xfrm>
            <a:off x="1979712" y="2566371"/>
            <a:ext cx="360040" cy="346902"/>
          </a:xfrm>
          <a:prstGeom prst="roundRect">
            <a:avLst/>
          </a:prstGeom>
          <a:noFill/>
          <a:ln w="28575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spc="-1" dirty="0" smtClean="0">
                  <a:solidFill>
                    <a:srgbClr val="FFFFFF"/>
                  </a:solidFill>
                  <a:latin typeface="Alfabet ExtraBold"/>
                </a:rPr>
                <a:t>Paginado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339" y="1579314"/>
            <a:ext cx="2177902" cy="1008112"/>
          </a:xfrm>
          <a:prstGeom prst="rect">
            <a:avLst/>
          </a:prstGeom>
        </p:spPr>
      </p:pic>
      <p:sp>
        <p:nvSpPr>
          <p:cNvPr id="9" name="CuadroTexto 2"/>
          <p:cNvSpPr/>
          <p:nvPr/>
        </p:nvSpPr>
        <p:spPr>
          <a:xfrm>
            <a:off x="3203848" y="1548226"/>
            <a:ext cx="3024336" cy="1075764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s-AR" altLang="es-AR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Indica que hay 3 páginas de información. Con la flecha (&gt;) es posible avanzar de página.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560" y="3371592"/>
            <a:ext cx="2766250" cy="925231"/>
          </a:xfrm>
          <a:prstGeom prst="rect">
            <a:avLst/>
          </a:prstGeom>
        </p:spPr>
      </p:pic>
      <p:sp>
        <p:nvSpPr>
          <p:cNvPr id="12" name="CuadroTexto 2"/>
          <p:cNvSpPr/>
          <p:nvPr/>
        </p:nvSpPr>
        <p:spPr>
          <a:xfrm>
            <a:off x="3707904" y="3162215"/>
            <a:ext cx="3024336" cy="1321985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Indica la cantidad de registros que está mostrando por página, en relaci</a:t>
            </a:r>
            <a:r>
              <a:rPr lang="es-AR" altLang="es-AR" sz="16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ón al total de registros en base de datos</a:t>
            </a:r>
            <a:endParaRPr lang="es-AR" sz="16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7188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Búsquedas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1" name="CuadroTexto 2"/>
          <p:cNvSpPr/>
          <p:nvPr/>
        </p:nvSpPr>
        <p:spPr>
          <a:xfrm>
            <a:off x="540000" y="1268760"/>
            <a:ext cx="7344368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Busca el texto introducido, en cualquiera de las columnas de la grilla de datos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6" y="2187712"/>
            <a:ext cx="9025828" cy="251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3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Filtros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786" y="1954538"/>
            <a:ext cx="2228550" cy="1978518"/>
          </a:xfrm>
          <a:prstGeom prst="rect">
            <a:avLst/>
          </a:prstGeom>
        </p:spPr>
      </p:pic>
      <p:sp>
        <p:nvSpPr>
          <p:cNvPr id="7" name="CuadroTexto 2"/>
          <p:cNvSpPr/>
          <p:nvPr/>
        </p:nvSpPr>
        <p:spPr>
          <a:xfrm>
            <a:off x="540000" y="1372994"/>
            <a:ext cx="4248024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En el área superior del formulario se encuentra la sección destinada a los filtros.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Haciendo clic en el combo desplegable, será posible filtrar por alguno de los valores de la lista.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En el ejemplo, podrán visualizarse los datos de acuerdo a su estado: Vigente, No Vigente, o visualizar Todos los registros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750202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056239"/>
            <a:ext cx="7416824" cy="4692743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Orden de Visualización de datos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6" name="CuadroTexto 2"/>
          <p:cNvSpPr/>
          <p:nvPr/>
        </p:nvSpPr>
        <p:spPr>
          <a:xfrm>
            <a:off x="3062768" y="1950830"/>
            <a:ext cx="612023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000" spc="-1" dirty="0" smtClean="0">
                <a:solidFill>
                  <a:schemeClr val="bg1">
                    <a:lumMod val="50000"/>
                  </a:schemeClr>
                </a:solidFill>
                <a:latin typeface="Alfabet Medium"/>
                <a:ea typeface="DejaVu Sans"/>
              </a:rPr>
              <a:t>       El 1er. clic ordena en forma Ascendente</a:t>
            </a:r>
            <a:endParaRPr lang="es-AR" sz="2000" spc="-1" dirty="0">
              <a:solidFill>
                <a:schemeClr val="bg1">
                  <a:lumMod val="50000"/>
                </a:schemeClr>
              </a:solidFill>
              <a:latin typeface="Alfabet Medium"/>
              <a:ea typeface="DejaVu Sans"/>
            </a:endParaRPr>
          </a:p>
        </p:txBody>
      </p:sp>
      <p:sp>
        <p:nvSpPr>
          <p:cNvPr id="9" name="CuadroTexto 2"/>
          <p:cNvSpPr/>
          <p:nvPr/>
        </p:nvSpPr>
        <p:spPr>
          <a:xfrm>
            <a:off x="3062768" y="2598902"/>
            <a:ext cx="6120232" cy="398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000" spc="-1" dirty="0" smtClean="0">
                <a:solidFill>
                  <a:schemeClr val="bg1">
                    <a:lumMod val="50000"/>
                  </a:schemeClr>
                </a:solidFill>
                <a:latin typeface="Alfabet Medium"/>
                <a:ea typeface="DejaVu Sans"/>
              </a:rPr>
              <a:t>       El 2do. clic ordena en forma Descendente</a:t>
            </a:r>
            <a:endParaRPr lang="es-AR" sz="2000" spc="-1" dirty="0">
              <a:solidFill>
                <a:schemeClr val="bg1">
                  <a:lumMod val="50000"/>
                </a:schemeClr>
              </a:solidFill>
              <a:latin typeface="Alfabet Medium"/>
              <a:ea typeface="DejaVu Sans"/>
            </a:endParaRPr>
          </a:p>
        </p:txBody>
      </p:sp>
      <p:sp>
        <p:nvSpPr>
          <p:cNvPr id="11" name="CuadroTexto 2"/>
          <p:cNvSpPr/>
          <p:nvPr/>
        </p:nvSpPr>
        <p:spPr>
          <a:xfrm>
            <a:off x="3490078" y="3230244"/>
            <a:ext cx="5692922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AR" altLang="es-AR" sz="2000" spc="-1" dirty="0" smtClean="0">
                <a:solidFill>
                  <a:schemeClr val="bg1">
                    <a:lumMod val="50000"/>
                  </a:schemeClr>
                </a:solidFill>
                <a:latin typeface="Alfabet Medium"/>
                <a:ea typeface="DejaVu Sans"/>
              </a:rPr>
              <a:t>El 3er. clic ordena de acuerdo a cómo se hayan ido dando de alta los registros</a:t>
            </a:r>
            <a:endParaRPr lang="es-AR" sz="2000" spc="-1" dirty="0">
              <a:solidFill>
                <a:schemeClr val="bg1">
                  <a:lumMod val="50000"/>
                </a:schemeClr>
              </a:solidFill>
              <a:latin typeface="Alfabet Medium"/>
              <a:ea typeface="DejaVu Sans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674" y="1916832"/>
            <a:ext cx="499404" cy="499404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2548527"/>
            <a:ext cx="499404" cy="499404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3162228"/>
            <a:ext cx="499404" cy="49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05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667997"/>
            <a:ext cx="2865686" cy="1625314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Alta de Registros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2501223"/>
            <a:ext cx="609524" cy="609524"/>
          </a:xfrm>
          <a:prstGeom prst="rect">
            <a:avLst/>
          </a:prstGeom>
        </p:spPr>
      </p:pic>
      <p:sp>
        <p:nvSpPr>
          <p:cNvPr id="9" name="CuadroTexto 2"/>
          <p:cNvSpPr/>
          <p:nvPr/>
        </p:nvSpPr>
        <p:spPr>
          <a:xfrm>
            <a:off x="3707904" y="1667997"/>
            <a:ext cx="4248024" cy="25530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Haciendo clic en el bo</a:t>
            </a: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tón “Agregar”, se podrá dar de alta un nuevo registro.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Esta acción desplegará el correspondiente formulario, para que el usuario complete los datos requeridos. 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63521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Alta de </a:t>
              </a: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Registros (cont.)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536" y="1268760"/>
            <a:ext cx="8208912" cy="2744121"/>
          </a:xfrm>
          <a:prstGeom prst="rect">
            <a:avLst/>
          </a:prstGeom>
        </p:spPr>
      </p:pic>
      <p:sp>
        <p:nvSpPr>
          <p:cNvPr id="10" name="CuadroTexto 2"/>
          <p:cNvSpPr/>
          <p:nvPr/>
        </p:nvSpPr>
        <p:spPr>
          <a:xfrm>
            <a:off x="516391" y="4106723"/>
            <a:ext cx="7632400" cy="16297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Luego de completar los datos del formulario, se deberá presionar el botón “Enviar” para guardar los cambios.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El sistema realizará una verificación de tipos de datos, datos requeridos, formatos, etc. antes de guardar el registro.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sp>
        <p:nvSpPr>
          <p:cNvPr id="11" name="Rectángulo redondeado 10"/>
          <p:cNvSpPr/>
          <p:nvPr/>
        </p:nvSpPr>
        <p:spPr>
          <a:xfrm>
            <a:off x="7668344" y="3429000"/>
            <a:ext cx="770317" cy="432048"/>
          </a:xfrm>
          <a:prstGeom prst="roundRect">
            <a:avLst/>
          </a:prstGeom>
          <a:noFill/>
          <a:ln w="28575">
            <a:solidFill>
              <a:srgbClr val="A61C7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838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680256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Alta de </a:t>
              </a: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Registros (cont.)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10" name="CuadroTexto 2"/>
          <p:cNvSpPr/>
          <p:nvPr/>
        </p:nvSpPr>
        <p:spPr>
          <a:xfrm>
            <a:off x="516391" y="1124744"/>
            <a:ext cx="7632400" cy="13219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Si al presionar el botón Enviar el sistema detecta algún error, como por ejemplo que faltan completar datos obligatorios, emitirá un alerta en la parte superior del formulario y no guardará el registro.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784" y="2492896"/>
            <a:ext cx="8460432" cy="329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2063665"/>
            <a:ext cx="5022015" cy="2301439"/>
          </a:xfrm>
          <a:prstGeom prst="rect">
            <a:avLst/>
          </a:prstGeom>
        </p:spPr>
      </p:pic>
      <p:grpSp>
        <p:nvGrpSpPr>
          <p:cNvPr id="122" name="15 Grupo"/>
          <p:cNvGrpSpPr/>
          <p:nvPr/>
        </p:nvGrpSpPr>
        <p:grpSpPr>
          <a:xfrm>
            <a:off x="540000" y="482760"/>
            <a:ext cx="7632400" cy="952653"/>
            <a:chOff x="540000" y="482760"/>
            <a:chExt cx="6802560" cy="952653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4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95265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Edición o Modificación de Registros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5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6" name="CuadroTexto 2"/>
          <p:cNvSpPr/>
          <p:nvPr/>
        </p:nvSpPr>
        <p:spPr>
          <a:xfrm>
            <a:off x="179960" y="1669790"/>
            <a:ext cx="3671960" cy="2860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Haciendo clic en el bo</a:t>
            </a: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tón “Editar”, se podrá modificar alguno/s dato/s de un registro en particular.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s-ES" altLang="es-AR" sz="2000" spc="-1" dirty="0" smtClean="0">
              <a:solidFill>
                <a:srgbClr val="FFFFFF"/>
              </a:solidFill>
              <a:latin typeface="Alfabet Medium"/>
              <a:ea typeface="DejaVu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sz="2000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Esta acción desplegará el correspondiente formulario, para que el usuario realice los cambios necesarios.</a:t>
            </a:r>
            <a:endParaRPr lang="es-AR" sz="2000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04248" y="2985911"/>
            <a:ext cx="609524" cy="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44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4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15 Grupo"/>
          <p:cNvGrpSpPr/>
          <p:nvPr/>
        </p:nvGrpSpPr>
        <p:grpSpPr>
          <a:xfrm>
            <a:off x="540000" y="482760"/>
            <a:ext cx="7632400" cy="573480"/>
            <a:chOff x="540000" y="482760"/>
            <a:chExt cx="6802560" cy="573480"/>
          </a:xfrm>
        </p:grpSpPr>
        <p:pic>
          <p:nvPicPr>
            <p:cNvPr id="123" name="Picture 2" descr="C:\Users\jpavoni\Downloads\ELEMENTOS PARA WEB\ELEMENTOS PARA WEB\CAPA 2 nueva\PARTICIPACION CIUDADANA\BANNERS Y BOTONES-02.jpg"/>
            <p:cNvPicPr/>
            <p:nvPr/>
          </p:nvPicPr>
          <p:blipFill>
            <a:blip r:embed="rId3" cstate="print"/>
            <a:srcRect l="5396" t="37233" r="86991" b="50737"/>
            <a:stretch/>
          </p:blipFill>
          <p:spPr>
            <a:xfrm>
              <a:off x="540000" y="482760"/>
              <a:ext cx="645480" cy="5734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24" name="13 Rectángulo"/>
            <p:cNvSpPr/>
            <p:nvPr/>
          </p:nvSpPr>
          <p:spPr>
            <a:xfrm>
              <a:off x="1008360" y="482760"/>
              <a:ext cx="633420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s-MX" sz="2800" b="0" strike="noStrike" spc="-1" dirty="0" smtClean="0">
                  <a:solidFill>
                    <a:srgbClr val="FFFFFF"/>
                  </a:solidFill>
                  <a:latin typeface="Alfabet ExtraBold"/>
                  <a:ea typeface="Roboto Medium"/>
                </a:rPr>
                <a:t>Activación e Inactivación de Registros</a:t>
              </a:r>
              <a:endParaRPr lang="es-AR" sz="2800" b="0" strike="noStrike" spc="-1" dirty="0">
                <a:latin typeface="Arial"/>
              </a:endParaRPr>
            </a:p>
          </p:txBody>
        </p:sp>
      </p:grpSp>
      <p:pic>
        <p:nvPicPr>
          <p:cNvPr id="142" name="141 Imagen"/>
          <p:cNvPicPr/>
          <p:nvPr/>
        </p:nvPicPr>
        <p:blipFill>
          <a:blip r:embed="rId4" cstate="print"/>
          <a:stretch/>
        </p:blipFill>
        <p:spPr>
          <a:xfrm>
            <a:off x="360" y="5897520"/>
            <a:ext cx="9143280" cy="960120"/>
          </a:xfrm>
          <a:prstGeom prst="rect">
            <a:avLst/>
          </a:prstGeom>
          <a:ln w="0">
            <a:noFill/>
          </a:ln>
        </p:spPr>
      </p:pic>
      <p:sp>
        <p:nvSpPr>
          <p:cNvPr id="6" name="CuadroTexto 2"/>
          <p:cNvSpPr/>
          <p:nvPr/>
        </p:nvSpPr>
        <p:spPr>
          <a:xfrm>
            <a:off x="107504" y="1178128"/>
            <a:ext cx="3600400" cy="45228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u="sng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Inactivar registro</a:t>
            </a:r>
            <a:r>
              <a:rPr lang="es-ES" altLang="es-AR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altLang="es-AR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Un registro que está “Activo” es posible inactivarlo para que el mismo no sea utilizado en adelante.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Para ello, se deberá editar el registro que se desea “Inactivar”, y cambiar el estado del campo “Vigente” al valor “NO”.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u="sng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Activar registro</a:t>
            </a: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pc="-1" dirty="0" smtClean="0">
                <a:solidFill>
                  <a:srgbClr val="FFFFFF"/>
                </a:solidFill>
                <a:latin typeface="Alfabet Medium"/>
                <a:ea typeface="DejaVu Sans"/>
              </a:rPr>
              <a:t>El proceso inverso deberá realizarse para volver a activar un registro, es decir, editarlo y cambiar el estado del campo Vigente a “SI”</a:t>
            </a:r>
            <a:endParaRPr lang="es-AR" spc="-1" dirty="0">
              <a:solidFill>
                <a:srgbClr val="FFFFFF"/>
              </a:solidFill>
              <a:latin typeface="Alfabet Medium"/>
              <a:ea typeface="DejaVu Sans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1920" y="1700808"/>
            <a:ext cx="5102105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35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5314</TotalTime>
  <Words>455</Words>
  <Application>Microsoft Office PowerPoint</Application>
  <PresentationFormat>Presentación en pantalla (4:3)</PresentationFormat>
  <Paragraphs>54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1" baseType="lpstr">
      <vt:lpstr>Alfabet ExtraBold</vt:lpstr>
      <vt:lpstr>Alfabet Medium</vt:lpstr>
      <vt:lpstr>Arial</vt:lpstr>
      <vt:lpstr>DejaVu Sans</vt:lpstr>
      <vt:lpstr>Roboto Medium</vt:lpstr>
      <vt:lpstr>Symbol</vt:lpstr>
      <vt:lpstr>Times New Roman</vt:lpstr>
      <vt:lpstr>Wingdings</vt:lpstr>
      <vt:lpstr>Office Theme</vt:lpstr>
      <vt:lpstr>Office Theme</vt:lpstr>
      <vt:lpstr>Devolución de Subvenciones Docentes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Pavoni Julian</dc:creator>
  <cp:lastModifiedBy>Lopez Gabriela</cp:lastModifiedBy>
  <cp:revision>68</cp:revision>
  <dcterms:created xsi:type="dcterms:W3CDTF">2024-04-17T14:44:25Z</dcterms:created>
  <dcterms:modified xsi:type="dcterms:W3CDTF">2024-11-13T18:10:54Z</dcterms:modified>
  <dc:language>es-AR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Presentación en pantalla (4:3)</vt:lpwstr>
  </property>
  <property fmtid="{D5CDD505-2E9C-101B-9397-08002B2CF9AE}" pid="4" name="Slides">
    <vt:i4>24</vt:i4>
  </property>
</Properties>
</file>