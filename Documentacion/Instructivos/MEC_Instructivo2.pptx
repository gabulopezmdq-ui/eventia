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9"/>
  </p:notesMasterIdLst>
  <p:sldIdLst>
    <p:sldId id="256" r:id="rId3"/>
    <p:sldId id="295" r:id="rId4"/>
    <p:sldId id="257" r:id="rId5"/>
    <p:sldId id="291" r:id="rId6"/>
    <p:sldId id="296" r:id="rId7"/>
    <p:sldId id="294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1C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2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desplazar la diapositiva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s-AR" sz="2000" b="0" strike="noStrike" spc="-1">
                <a:latin typeface="Arial"/>
              </a:rPr>
              <a:t>Pulse para editar el formato de las notas</a:t>
            </a:r>
          </a:p>
        </p:txBody>
      </p:sp>
      <p:sp>
        <p:nvSpPr>
          <p:cNvPr id="1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s-AR" sz="1400" b="0" strike="noStrike" spc="-1">
                <a:latin typeface="Times New Roman"/>
              </a:rPr>
              <a:t>&lt;cabecera&gt;</a:t>
            </a:r>
          </a:p>
        </p:txBody>
      </p:sp>
      <p:sp>
        <p:nvSpPr>
          <p:cNvPr id="117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/>
            <a:r>
              <a:rPr lang="es-AR" sz="1400" b="0" strike="noStrike" spc="-1">
                <a:latin typeface="Times New Roman"/>
              </a:rPr>
              <a:t>&lt;fecha/hora&gt;</a:t>
            </a:r>
          </a:p>
        </p:txBody>
      </p:sp>
      <p:sp>
        <p:nvSpPr>
          <p:cNvPr id="118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s-AR" sz="1400" b="0" strike="noStrike" spc="-1">
                <a:latin typeface="Times New Roman"/>
              </a:rPr>
              <a:t>&lt;pie de página&gt;</a:t>
            </a:r>
          </a:p>
        </p:txBody>
      </p:sp>
      <p:sp>
        <p:nvSpPr>
          <p:cNvPr id="119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25E1D73A-C896-4F10-8A1F-42DA976BB268}" type="slidenum">
              <a:rPr lang="es-AR" sz="1400" b="0" strike="noStrike" spc="-1">
                <a:latin typeface="Times New Roman"/>
              </a:rPr>
              <a:pPr algn="r"/>
              <a:t>‹Nº›</a:t>
            </a:fld>
            <a:endParaRPr lang="es-AR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487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9669A908-0F06-4E47-960C-06257B12840D}" type="slidenum">
              <a:rPr lang="es-AR" sz="1200" spc="-1">
                <a:solidFill>
                  <a:srgbClr val="000000"/>
                </a:solidFill>
              </a:rPr>
              <a:pPr algn="r"/>
              <a:t>2</a:t>
            </a:fld>
            <a:endParaRPr lang="es-AR" sz="1200" spc="-1">
              <a:solidFill>
                <a:prstClr val="black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99397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3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92018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4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15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5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59746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6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639946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7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17375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8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16973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9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50343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10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0800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11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91410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12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831950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13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35888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14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19125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15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574184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16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82890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E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920" y="980728"/>
            <a:ext cx="7858496" cy="208823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s-AR" sz="4400" b="0" strike="noStrike" spc="-1" dirty="0" smtClean="0">
                <a:solidFill>
                  <a:srgbClr val="FFFFFF"/>
                </a:solidFill>
                <a:latin typeface="Alfabet ExtraBold"/>
              </a:rPr>
              <a:t>Devolución de Subvenciones Docentes</a:t>
            </a:r>
            <a:endParaRPr lang="es-AR" sz="4400" b="0" strike="noStrike" spc="-1" dirty="0">
              <a:latin typeface="Arial"/>
            </a:endParaRPr>
          </a:p>
        </p:txBody>
      </p:sp>
      <p:pic>
        <p:nvPicPr>
          <p:cNvPr id="121" name="120 Imagen"/>
          <p:cNvPicPr/>
          <p:nvPr/>
        </p:nvPicPr>
        <p:blipFill>
          <a:blip r:embed="rId2" cstate="print"/>
          <a:stretch/>
        </p:blipFill>
        <p:spPr>
          <a:xfrm>
            <a:off x="180000" y="5396400"/>
            <a:ext cx="8819640" cy="14432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1"/>
          <p:cNvSpPr txBox="1">
            <a:spLocks/>
          </p:cNvSpPr>
          <p:nvPr/>
        </p:nvSpPr>
        <p:spPr>
          <a:xfrm>
            <a:off x="458552" y="3429000"/>
            <a:ext cx="8217904" cy="108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/>
            <a:r>
              <a:rPr lang="es-AR" sz="2800" kern="0" spc="-1" dirty="0" smtClean="0">
                <a:solidFill>
                  <a:srgbClr val="FFFFFF"/>
                </a:solidFill>
                <a:latin typeface="Alfabet ExtraBold"/>
              </a:rPr>
              <a:t>Instructivo 2 – Gestión de Personas </a:t>
            </a:r>
          </a:p>
          <a:p>
            <a:pPr algn="r"/>
            <a:r>
              <a:rPr lang="es-AR" sz="2800" kern="0" spc="-1" dirty="0" smtClean="0">
                <a:solidFill>
                  <a:srgbClr val="FFFFFF"/>
                </a:solidFill>
                <a:latin typeface="Alfabet ExtraBold"/>
              </a:rPr>
              <a:t>y Planta Funcional</a:t>
            </a:r>
            <a:endParaRPr lang="es-AR" sz="2800" kern="0" spc="-1" dirty="0">
              <a:solidFill>
                <a:sysClr val="windowText" lastClr="000000"/>
              </a:solidFill>
              <a:latin typeface="Arial"/>
            </a:endParaRPr>
          </a:p>
        </p:txBody>
      </p:sp>
      <p:cxnSp>
        <p:nvCxnSpPr>
          <p:cNvPr id="3" name="Conector recto 2"/>
          <p:cNvCxnSpPr/>
          <p:nvPr/>
        </p:nvCxnSpPr>
        <p:spPr>
          <a:xfrm flipH="1">
            <a:off x="2843808" y="4581128"/>
            <a:ext cx="5832648" cy="0"/>
          </a:xfrm>
          <a:prstGeom prst="line">
            <a:avLst/>
          </a:prstGeom>
          <a:ln w="28575">
            <a:solidFill>
              <a:schemeClr val="bg1"/>
            </a:solidFill>
          </a:ln>
          <a:effectLst>
            <a:outerShdw blurRad="50800" dist="38100" dir="5400000" algn="t" rotWithShape="0">
              <a:schemeClr val="bg2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Hito 1 – Personas y POF</a:t>
              </a:r>
              <a:endParaRPr lang="es-AR" sz="2800" spc="-1" dirty="0">
                <a:solidFill>
                  <a:prstClr val="black"/>
                </a:solidFill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3836074"/>
            <a:ext cx="8208464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pc="-1" dirty="0">
                <a:solidFill>
                  <a:srgbClr val="FFFFFF"/>
                </a:solidFill>
                <a:latin typeface="Alfabet Medium"/>
              </a:rPr>
              <a:t>Eficiencia, precisión y centralización de datos.</a:t>
            </a:r>
            <a:endParaRPr lang="es-AR" spc="-1" dirty="0">
              <a:solidFill>
                <a:srgbClr val="FFFFFF"/>
              </a:solidFill>
              <a:latin typeface="Alfabet Medium"/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577752" y="1844824"/>
            <a:ext cx="6656040" cy="398655"/>
            <a:chOff x="577752" y="1158137"/>
            <a:chExt cx="6656040" cy="398655"/>
          </a:xfrm>
        </p:grpSpPr>
        <p:pic>
          <p:nvPicPr>
            <p:cNvPr id="8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77752" y="1171539"/>
              <a:ext cx="430608" cy="385253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" name="13 Rectángulo"/>
            <p:cNvSpPr/>
            <p:nvPr/>
          </p:nvSpPr>
          <p:spPr>
            <a:xfrm>
              <a:off x="899592" y="1158137"/>
              <a:ext cx="6334200" cy="3986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r>
                <a:rPr lang="es-MX" sz="20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Objetivo del módulo</a:t>
              </a:r>
              <a:endParaRPr lang="es-AR" sz="2000" spc="-1" dirty="0">
                <a:solidFill>
                  <a:prstClr val="black"/>
                </a:solidFill>
              </a:endParaRPr>
            </a:p>
          </p:txBody>
        </p:sp>
      </p:grpSp>
      <p:sp>
        <p:nvSpPr>
          <p:cNvPr id="11" name="CuadroTexto 2"/>
          <p:cNvSpPr/>
          <p:nvPr/>
        </p:nvSpPr>
        <p:spPr>
          <a:xfrm>
            <a:off x="540000" y="2309390"/>
            <a:ext cx="8208464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pc="-1" dirty="0">
                <a:solidFill>
                  <a:srgbClr val="FFFFFF"/>
                </a:solidFill>
                <a:latin typeface="Alfabet Medium"/>
              </a:rPr>
              <a:t>Gestionar personas y organizar la planta funcional de los establecimientos.</a:t>
            </a:r>
            <a:endParaRPr lang="es-AR" spc="-1" dirty="0">
              <a:solidFill>
                <a:srgbClr val="FFFFFF"/>
              </a:solidFill>
              <a:latin typeface="Alfabet Medium"/>
            </a:endParaRPr>
          </a:p>
        </p:txBody>
      </p:sp>
      <p:grpSp>
        <p:nvGrpSpPr>
          <p:cNvPr id="12" name="Grupo 11"/>
          <p:cNvGrpSpPr/>
          <p:nvPr/>
        </p:nvGrpSpPr>
        <p:grpSpPr>
          <a:xfrm>
            <a:off x="580256" y="3356992"/>
            <a:ext cx="6656040" cy="398655"/>
            <a:chOff x="577752" y="1158137"/>
            <a:chExt cx="6656040" cy="398655"/>
          </a:xfrm>
        </p:grpSpPr>
        <p:pic>
          <p:nvPicPr>
            <p:cNvPr id="1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77752" y="1171539"/>
              <a:ext cx="430608" cy="385253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" name="13 Rectángulo"/>
            <p:cNvSpPr/>
            <p:nvPr/>
          </p:nvSpPr>
          <p:spPr>
            <a:xfrm>
              <a:off x="899592" y="1158137"/>
              <a:ext cx="6334200" cy="3986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r>
                <a:rPr lang="es-MX" sz="20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Beneficios esperados</a:t>
              </a:r>
              <a:endParaRPr lang="es-AR" sz="2000" spc="-1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4717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Menú del Módulo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13" name="CuadroTexto 2"/>
          <p:cNvSpPr/>
          <p:nvPr/>
        </p:nvSpPr>
        <p:spPr>
          <a:xfrm>
            <a:off x="3644530" y="3353842"/>
            <a:ext cx="2799678" cy="95265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AR" sz="14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Planta Funcional: Configuración de Roles de Docentes y asignaciones en Establecimientos</a:t>
            </a:r>
            <a:endParaRPr lang="es-AR" sz="14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14" name="CuadroTexto 2"/>
          <p:cNvSpPr/>
          <p:nvPr/>
        </p:nvSpPr>
        <p:spPr>
          <a:xfrm>
            <a:off x="3635896" y="2060848"/>
            <a:ext cx="2808312" cy="7372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4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Gestión de Personas: Alta, Baja y Modificación de Docentes</a:t>
            </a:r>
            <a:endParaRPr lang="es-AR" sz="14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999" y="2188751"/>
            <a:ext cx="2712955" cy="21043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Gestión de Personas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512" y="1649611"/>
            <a:ext cx="8783692" cy="3003525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037798" y="3233787"/>
            <a:ext cx="609524" cy="609524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153667"/>
            <a:ext cx="609524" cy="609524"/>
          </a:xfrm>
          <a:prstGeom prst="rect">
            <a:avLst/>
          </a:prstGeom>
        </p:spPr>
      </p:pic>
      <p:sp>
        <p:nvSpPr>
          <p:cNvPr id="14" name="CuadroTexto 2"/>
          <p:cNvSpPr/>
          <p:nvPr/>
        </p:nvSpPr>
        <p:spPr>
          <a:xfrm>
            <a:off x="1979712" y="2260868"/>
            <a:ext cx="3024336" cy="82954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600" dirty="0"/>
              <a:t>Ingreso de nuevos docentes con datos obligatorios (DNI, nombre, apellido, etc.)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15" name="CuadroTexto 2"/>
          <p:cNvSpPr/>
          <p:nvPr/>
        </p:nvSpPr>
        <p:spPr>
          <a:xfrm>
            <a:off x="3851920" y="3374939"/>
            <a:ext cx="3024336" cy="3371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sz="1600" dirty="0"/>
              <a:t>Edición de registros existentes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71880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124744"/>
            <a:ext cx="7409051" cy="2444665"/>
          </a:xfrm>
          <a:prstGeom prst="rect">
            <a:avLst/>
          </a:prstGeom>
        </p:spPr>
      </p:pic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4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Gestión de Personas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5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1232978"/>
            <a:ext cx="609524" cy="609524"/>
          </a:xfrm>
          <a:prstGeom prst="rect">
            <a:avLst/>
          </a:prstGeom>
        </p:spPr>
      </p:pic>
      <p:sp>
        <p:nvSpPr>
          <p:cNvPr id="14" name="CuadroTexto 2"/>
          <p:cNvSpPr/>
          <p:nvPr/>
        </p:nvSpPr>
        <p:spPr>
          <a:xfrm>
            <a:off x="5220072" y="1363708"/>
            <a:ext cx="3528392" cy="3371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600" dirty="0" smtClean="0"/>
              <a:t>Validación de datos obligatorios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077" y="3647452"/>
            <a:ext cx="7456841" cy="2445844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3731117"/>
            <a:ext cx="609524" cy="609524"/>
          </a:xfrm>
          <a:prstGeom prst="rect">
            <a:avLst/>
          </a:prstGeom>
        </p:spPr>
      </p:pic>
      <p:sp>
        <p:nvSpPr>
          <p:cNvPr id="17" name="CuadroTexto 2"/>
          <p:cNvSpPr/>
          <p:nvPr/>
        </p:nvSpPr>
        <p:spPr>
          <a:xfrm>
            <a:off x="5220072" y="3861847"/>
            <a:ext cx="3528392" cy="58332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600" dirty="0" smtClean="0"/>
              <a:t>Control automático para evitar duplicados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4082188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Planta Funcional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0" y="1412776"/>
            <a:ext cx="5555461" cy="2286198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2204864"/>
            <a:ext cx="609524" cy="609524"/>
          </a:xfrm>
          <a:prstGeom prst="rect">
            <a:avLst/>
          </a:prstGeom>
        </p:spPr>
      </p:pic>
      <p:sp>
        <p:nvSpPr>
          <p:cNvPr id="13" name="CuadroTexto 2"/>
          <p:cNvSpPr/>
          <p:nvPr/>
        </p:nvSpPr>
        <p:spPr>
          <a:xfrm>
            <a:off x="5220072" y="2204864"/>
            <a:ext cx="3528392" cy="58332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600" dirty="0" smtClean="0"/>
              <a:t>Paso 1: seleccionar un Establecimiento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6796" y="3159342"/>
            <a:ext cx="5395428" cy="2933954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48264" y="3881538"/>
            <a:ext cx="609524" cy="609524"/>
          </a:xfrm>
          <a:prstGeom prst="rect">
            <a:avLst/>
          </a:prstGeom>
        </p:spPr>
      </p:pic>
      <p:sp>
        <p:nvSpPr>
          <p:cNvPr id="16" name="CuadroTexto 2"/>
          <p:cNvSpPr/>
          <p:nvPr/>
        </p:nvSpPr>
        <p:spPr>
          <a:xfrm>
            <a:off x="3762386" y="4022690"/>
            <a:ext cx="3024336" cy="82954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sz="1600" dirty="0" smtClean="0"/>
              <a:t>Paso 2: Luego de seleccionar el Establecimiento, hacer clic en CARGAR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662336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Planta Funcional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512" y="1556792"/>
            <a:ext cx="8719057" cy="3027890"/>
          </a:xfrm>
          <a:prstGeom prst="rect">
            <a:avLst/>
          </a:prstGeom>
        </p:spPr>
      </p:pic>
      <p:sp>
        <p:nvSpPr>
          <p:cNvPr id="4" name="Rectángulo redondeado 3"/>
          <p:cNvSpPr/>
          <p:nvPr/>
        </p:nvSpPr>
        <p:spPr>
          <a:xfrm>
            <a:off x="323528" y="2854712"/>
            <a:ext cx="8424936" cy="1582399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CuadroTexto 2"/>
          <p:cNvSpPr/>
          <p:nvPr/>
        </p:nvSpPr>
        <p:spPr>
          <a:xfrm>
            <a:off x="4437118" y="4307405"/>
            <a:ext cx="3024336" cy="82954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sz="1600" dirty="0" smtClean="0"/>
              <a:t>Paso 3: se visualizan los Docentes del Establecimiento seleccionado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723862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340768"/>
            <a:ext cx="8701001" cy="4400507"/>
          </a:xfrm>
          <a:prstGeom prst="rect">
            <a:avLst/>
          </a:prstGeom>
        </p:spPr>
      </p:pic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4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Planta Funcional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5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9" name="CuadroTexto 2"/>
          <p:cNvSpPr/>
          <p:nvPr/>
        </p:nvSpPr>
        <p:spPr>
          <a:xfrm>
            <a:off x="4860032" y="1270794"/>
            <a:ext cx="3168352" cy="58332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sz="1600" dirty="0" smtClean="0"/>
              <a:t>Paso </a:t>
            </a:r>
            <a:r>
              <a:rPr lang="es-AR" sz="1600" dirty="0" smtClean="0"/>
              <a:t>4: Agregar un Docente a la POF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5131751"/>
            <a:ext cx="609524" cy="609524"/>
          </a:xfrm>
          <a:prstGeom prst="rect">
            <a:avLst/>
          </a:prstGeom>
        </p:spPr>
      </p:pic>
      <p:sp>
        <p:nvSpPr>
          <p:cNvPr id="12" name="CuadroTexto 2"/>
          <p:cNvSpPr/>
          <p:nvPr/>
        </p:nvSpPr>
        <p:spPr>
          <a:xfrm>
            <a:off x="6300193" y="5131751"/>
            <a:ext cx="2736304" cy="58332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600" dirty="0" smtClean="0"/>
              <a:t>Introducir el DNI y presionar Verificar Persona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3105359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Planta Funcional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9" name="CuadroTexto 2"/>
          <p:cNvSpPr/>
          <p:nvPr/>
        </p:nvSpPr>
        <p:spPr>
          <a:xfrm>
            <a:off x="179512" y="1257506"/>
            <a:ext cx="3600400" cy="3371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sz="1600" dirty="0" smtClean="0"/>
              <a:t>Paso </a:t>
            </a:r>
            <a:r>
              <a:rPr lang="es-AR" sz="1600" dirty="0" smtClean="0"/>
              <a:t>4: Agregar un Docente a la POF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10" name="CuadroTexto 2"/>
          <p:cNvSpPr/>
          <p:nvPr/>
        </p:nvSpPr>
        <p:spPr>
          <a:xfrm>
            <a:off x="3923928" y="1257506"/>
            <a:ext cx="3024336" cy="3371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sz="1600" dirty="0" smtClean="0"/>
              <a:t>Caso 1: La persona NO existe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8" y="2293480"/>
            <a:ext cx="8964488" cy="2359656"/>
          </a:xfrm>
          <a:prstGeom prst="rect">
            <a:avLst/>
          </a:prstGeom>
        </p:spPr>
      </p:pic>
      <p:sp>
        <p:nvSpPr>
          <p:cNvPr id="11" name="Rectángulo redondeado 10"/>
          <p:cNvSpPr/>
          <p:nvPr/>
        </p:nvSpPr>
        <p:spPr>
          <a:xfrm>
            <a:off x="179512" y="2854712"/>
            <a:ext cx="8712968" cy="1654408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Llamada rectangular redondeada 2"/>
          <p:cNvSpPr/>
          <p:nvPr/>
        </p:nvSpPr>
        <p:spPr>
          <a:xfrm>
            <a:off x="4644008" y="4725144"/>
            <a:ext cx="1872208" cy="936104"/>
          </a:xfrm>
          <a:prstGeom prst="wedgeRoundRectCallout">
            <a:avLst>
              <a:gd name="adj1" fmla="val -23451"/>
              <a:gd name="adj2" fmla="val -73650"/>
              <a:gd name="adj3" fmla="val 1666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 smtClean="0"/>
              <a:t>Se habilita sección para completar los datos de la Persona</a:t>
            </a:r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2455519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Planta Funcional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9" name="CuadroTexto 2"/>
          <p:cNvSpPr/>
          <p:nvPr/>
        </p:nvSpPr>
        <p:spPr>
          <a:xfrm>
            <a:off x="179512" y="1124744"/>
            <a:ext cx="3600400" cy="3371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sz="1600" dirty="0" smtClean="0"/>
              <a:t>Paso </a:t>
            </a:r>
            <a:r>
              <a:rPr lang="es-AR" sz="1600" dirty="0" smtClean="0"/>
              <a:t>4: Agregar un Docente a la POF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10" name="CuadroTexto 2"/>
          <p:cNvSpPr/>
          <p:nvPr/>
        </p:nvSpPr>
        <p:spPr>
          <a:xfrm>
            <a:off x="3923928" y="1124744"/>
            <a:ext cx="3024336" cy="3371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sz="1600" dirty="0" smtClean="0"/>
              <a:t>Caso 1: La persona NO existe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04" y="1628800"/>
            <a:ext cx="8856984" cy="1814015"/>
          </a:xfrm>
          <a:prstGeom prst="rect">
            <a:avLst/>
          </a:prstGeom>
        </p:spPr>
      </p:pic>
      <p:sp>
        <p:nvSpPr>
          <p:cNvPr id="5" name="Rectángulo redondeado 4"/>
          <p:cNvSpPr/>
          <p:nvPr/>
        </p:nvSpPr>
        <p:spPr>
          <a:xfrm>
            <a:off x="1768763" y="2641305"/>
            <a:ext cx="2160240" cy="7220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Completar datos Persona y presionar “Enviar Persona”</a:t>
            </a:r>
            <a:endParaRPr lang="es-AR" sz="12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04" y="3573016"/>
            <a:ext cx="8856984" cy="2432399"/>
          </a:xfrm>
          <a:prstGeom prst="rect">
            <a:avLst/>
          </a:prstGeom>
        </p:spPr>
      </p:pic>
      <p:sp>
        <p:nvSpPr>
          <p:cNvPr id="14" name="Rectángulo redondeado 13"/>
          <p:cNvSpPr/>
          <p:nvPr/>
        </p:nvSpPr>
        <p:spPr>
          <a:xfrm>
            <a:off x="196068" y="4067090"/>
            <a:ext cx="8624404" cy="1450998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Rectángulo redondeado 14"/>
          <p:cNvSpPr/>
          <p:nvPr/>
        </p:nvSpPr>
        <p:spPr>
          <a:xfrm>
            <a:off x="1619672" y="5201376"/>
            <a:ext cx="2088232" cy="6683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Completar datos POF presionar “Enviar POF”</a:t>
            </a:r>
            <a:endParaRPr lang="es-AR" sz="1200" dirty="0"/>
          </a:p>
        </p:txBody>
      </p:sp>
      <p:sp>
        <p:nvSpPr>
          <p:cNvPr id="7" name="Rectángulo 6"/>
          <p:cNvSpPr/>
          <p:nvPr/>
        </p:nvSpPr>
        <p:spPr>
          <a:xfrm>
            <a:off x="323528" y="5563360"/>
            <a:ext cx="684832" cy="2888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Elipse 7"/>
          <p:cNvSpPr/>
          <p:nvPr/>
        </p:nvSpPr>
        <p:spPr>
          <a:xfrm>
            <a:off x="1263192" y="2837468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1</a:t>
            </a:r>
            <a:endParaRPr lang="es-AR" dirty="0"/>
          </a:p>
        </p:txBody>
      </p:sp>
      <p:sp>
        <p:nvSpPr>
          <p:cNvPr id="18" name="Elipse 17"/>
          <p:cNvSpPr/>
          <p:nvPr/>
        </p:nvSpPr>
        <p:spPr>
          <a:xfrm>
            <a:off x="1111425" y="5368289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2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212847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988840"/>
            <a:ext cx="8892480" cy="2783593"/>
          </a:xfrm>
          <a:prstGeom prst="rect">
            <a:avLst/>
          </a:prstGeom>
        </p:spPr>
      </p:pic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4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Planta Funcional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5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9" name="CuadroTexto 2"/>
          <p:cNvSpPr/>
          <p:nvPr/>
        </p:nvSpPr>
        <p:spPr>
          <a:xfrm>
            <a:off x="179512" y="1124744"/>
            <a:ext cx="3600400" cy="3371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sz="1600" dirty="0" smtClean="0"/>
              <a:t>Paso </a:t>
            </a:r>
            <a:r>
              <a:rPr lang="es-AR" sz="1600" dirty="0" smtClean="0"/>
              <a:t>4: Agregar un Docente a la POF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10" name="CuadroTexto 2"/>
          <p:cNvSpPr/>
          <p:nvPr/>
        </p:nvSpPr>
        <p:spPr>
          <a:xfrm>
            <a:off x="3923928" y="1124744"/>
            <a:ext cx="3024336" cy="3371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sz="1600" dirty="0" smtClean="0"/>
              <a:t>Caso 1: La persona NO existe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14" name="Rectángulo redondeado 13"/>
          <p:cNvSpPr/>
          <p:nvPr/>
        </p:nvSpPr>
        <p:spPr>
          <a:xfrm>
            <a:off x="467543" y="3501007"/>
            <a:ext cx="8170053" cy="375411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Rectángulo redondeado 14"/>
          <p:cNvSpPr/>
          <p:nvPr/>
        </p:nvSpPr>
        <p:spPr>
          <a:xfrm>
            <a:off x="5508104" y="4077072"/>
            <a:ext cx="2088232" cy="6683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Se actualiza la POF</a:t>
            </a:r>
            <a:endParaRPr lang="es-AR" sz="1200" dirty="0"/>
          </a:p>
        </p:txBody>
      </p:sp>
      <p:sp>
        <p:nvSpPr>
          <p:cNvPr id="16" name="Elipse 15"/>
          <p:cNvSpPr/>
          <p:nvPr/>
        </p:nvSpPr>
        <p:spPr>
          <a:xfrm>
            <a:off x="5007608" y="4257042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492483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2422208"/>
            <a:ext cx="8892480" cy="2072193"/>
          </a:xfrm>
          <a:prstGeom prst="rect">
            <a:avLst/>
          </a:prstGeom>
        </p:spPr>
      </p:pic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4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Planta Funcional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5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9" name="CuadroTexto 2"/>
          <p:cNvSpPr/>
          <p:nvPr/>
        </p:nvSpPr>
        <p:spPr>
          <a:xfrm>
            <a:off x="179512" y="1257506"/>
            <a:ext cx="3600400" cy="3371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sz="1600" dirty="0" smtClean="0"/>
              <a:t>Paso </a:t>
            </a:r>
            <a:r>
              <a:rPr lang="es-AR" sz="1600" dirty="0" smtClean="0"/>
              <a:t>4: Agregar un Docente a la POF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10" name="CuadroTexto 2"/>
          <p:cNvSpPr/>
          <p:nvPr/>
        </p:nvSpPr>
        <p:spPr>
          <a:xfrm>
            <a:off x="3923928" y="1257506"/>
            <a:ext cx="3024336" cy="3371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sz="1600" dirty="0" smtClean="0"/>
              <a:t>Caso 2: La persona SI existe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11" name="Rectángulo redondeado 10"/>
          <p:cNvSpPr/>
          <p:nvPr/>
        </p:nvSpPr>
        <p:spPr>
          <a:xfrm>
            <a:off x="179512" y="2997725"/>
            <a:ext cx="8712968" cy="1295372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Llamada rectangular redondeada 2"/>
          <p:cNvSpPr/>
          <p:nvPr/>
        </p:nvSpPr>
        <p:spPr>
          <a:xfrm>
            <a:off x="2339752" y="4601866"/>
            <a:ext cx="1872208" cy="936104"/>
          </a:xfrm>
          <a:prstGeom prst="wedgeRoundRectCallout">
            <a:avLst>
              <a:gd name="adj1" fmla="val -23451"/>
              <a:gd name="adj2" fmla="val -73650"/>
              <a:gd name="adj3" fmla="val 1666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 smtClean="0"/>
              <a:t>Se completan automáticamente los datos de la Persona</a:t>
            </a:r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586386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Planta Funcional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9" name="CuadroTexto 2"/>
          <p:cNvSpPr/>
          <p:nvPr/>
        </p:nvSpPr>
        <p:spPr>
          <a:xfrm>
            <a:off x="179512" y="1257506"/>
            <a:ext cx="3600400" cy="3371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sz="1600" dirty="0" smtClean="0"/>
              <a:t>Paso </a:t>
            </a:r>
            <a:r>
              <a:rPr lang="es-AR" sz="1600" dirty="0" smtClean="0"/>
              <a:t>4: Agregar un Docente a la POF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10" name="CuadroTexto 2"/>
          <p:cNvSpPr/>
          <p:nvPr/>
        </p:nvSpPr>
        <p:spPr>
          <a:xfrm>
            <a:off x="3923928" y="1257506"/>
            <a:ext cx="3024336" cy="3371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sz="1600" dirty="0" smtClean="0"/>
              <a:t>Caso 2: La persona SI existe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0" y="1733899"/>
            <a:ext cx="8460432" cy="4131718"/>
          </a:xfrm>
          <a:prstGeom prst="rect">
            <a:avLst/>
          </a:prstGeom>
        </p:spPr>
      </p:pic>
      <p:sp>
        <p:nvSpPr>
          <p:cNvPr id="12" name="Rectángulo redondeado 11"/>
          <p:cNvSpPr/>
          <p:nvPr/>
        </p:nvSpPr>
        <p:spPr>
          <a:xfrm>
            <a:off x="360644" y="4063782"/>
            <a:ext cx="8243804" cy="1597466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Llamada rectangular redondeada 12"/>
          <p:cNvSpPr/>
          <p:nvPr/>
        </p:nvSpPr>
        <p:spPr>
          <a:xfrm>
            <a:off x="5364088" y="2809959"/>
            <a:ext cx="2160240" cy="936104"/>
          </a:xfrm>
          <a:prstGeom prst="wedgeRoundRectCallout">
            <a:avLst>
              <a:gd name="adj1" fmla="val -19423"/>
              <a:gd name="adj2" fmla="val 74383"/>
              <a:gd name="adj3" fmla="val 1666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 smtClean="0"/>
              <a:t>Se habilita sección para cargar datos POF para asociar el docente al establecimiento</a:t>
            </a:r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2679440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340768"/>
            <a:ext cx="8701001" cy="4400507"/>
          </a:xfrm>
          <a:prstGeom prst="rect">
            <a:avLst/>
          </a:prstGeom>
        </p:spPr>
      </p:pic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4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Planta Funcional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5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9" name="CuadroTexto 2"/>
          <p:cNvSpPr/>
          <p:nvPr/>
        </p:nvSpPr>
        <p:spPr>
          <a:xfrm>
            <a:off x="4860032" y="1270794"/>
            <a:ext cx="3168352" cy="58332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sz="1600" dirty="0" smtClean="0"/>
              <a:t>Paso </a:t>
            </a:r>
            <a:r>
              <a:rPr lang="es-AR" sz="1600" dirty="0" smtClean="0"/>
              <a:t>5: Desvincular un Docente de un Establecimiento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5131751"/>
            <a:ext cx="609524" cy="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87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Planta Funcional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9" name="CuadroTexto 2"/>
          <p:cNvSpPr/>
          <p:nvPr/>
        </p:nvSpPr>
        <p:spPr>
          <a:xfrm>
            <a:off x="4860032" y="1270794"/>
            <a:ext cx="3168352" cy="58332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sz="1600" dirty="0" smtClean="0"/>
              <a:t>Paso </a:t>
            </a:r>
            <a:r>
              <a:rPr lang="es-AR" sz="1600" dirty="0" smtClean="0"/>
              <a:t>6: Volver a vincular un Docente a un Establecimiento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343867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Planta Funcional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9" name="CuadroTexto 2"/>
          <p:cNvSpPr/>
          <p:nvPr/>
        </p:nvSpPr>
        <p:spPr>
          <a:xfrm>
            <a:off x="4860032" y="1270794"/>
            <a:ext cx="3168352" cy="58332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sz="1600" dirty="0" smtClean="0"/>
              <a:t>Paso </a:t>
            </a:r>
            <a:r>
              <a:rPr lang="es-AR" sz="1600" dirty="0"/>
              <a:t>7</a:t>
            </a:r>
            <a:r>
              <a:rPr lang="es-AR" sz="1600" dirty="0" smtClean="0"/>
              <a:t>: Cargar Antigüedades Base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2" name="Rectángulo redondeado 1"/>
          <p:cNvSpPr/>
          <p:nvPr/>
        </p:nvSpPr>
        <p:spPr>
          <a:xfrm>
            <a:off x="611560" y="3068960"/>
            <a:ext cx="4680520" cy="16561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 smtClean="0"/>
              <a:t>Se trata de una carga </a:t>
            </a:r>
            <a:r>
              <a:rPr lang="es-ES" dirty="0"/>
              <a:t>por única vez para cada </a:t>
            </a:r>
            <a:r>
              <a:rPr lang="es-ES" dirty="0" smtClean="0"/>
              <a:t>registro de la POF ya </a:t>
            </a:r>
            <a:r>
              <a:rPr lang="es-ES" dirty="0"/>
              <a:t>que se utiliza como base para el cálculo de las </a:t>
            </a:r>
            <a:r>
              <a:rPr lang="es-ES" dirty="0" smtClean="0"/>
              <a:t>antigüedades a través de las diferentes liquidaciones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70113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5722</TotalTime>
  <Words>379</Words>
  <Application>Microsoft Office PowerPoint</Application>
  <PresentationFormat>Presentación en pantalla (4:3)</PresentationFormat>
  <Paragraphs>71</Paragraphs>
  <Slides>16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16</vt:i4>
      </vt:variant>
    </vt:vector>
  </HeadingPairs>
  <TitlesOfParts>
    <vt:vector size="26" baseType="lpstr">
      <vt:lpstr>Alfabet ExtraBold</vt:lpstr>
      <vt:lpstr>Alfabet Medium</vt:lpstr>
      <vt:lpstr>Arial</vt:lpstr>
      <vt:lpstr>DejaVu Sans</vt:lpstr>
      <vt:lpstr>Roboto Medium</vt:lpstr>
      <vt:lpstr>Symbol</vt:lpstr>
      <vt:lpstr>Times New Roman</vt:lpstr>
      <vt:lpstr>Wingdings</vt:lpstr>
      <vt:lpstr>Office Theme</vt:lpstr>
      <vt:lpstr>Office Theme</vt:lpstr>
      <vt:lpstr>Devolución de Subvenciones Docentes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Pavoni Julian</dc:creator>
  <cp:lastModifiedBy>Lopez Gabriela</cp:lastModifiedBy>
  <cp:revision>88</cp:revision>
  <dcterms:created xsi:type="dcterms:W3CDTF">2024-04-17T14:44:25Z</dcterms:created>
  <dcterms:modified xsi:type="dcterms:W3CDTF">2024-12-02T12:35:38Z</dcterms:modified>
  <dc:language>es-AR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Presentación en pantalla (4:3)</vt:lpwstr>
  </property>
  <property fmtid="{D5CDD505-2E9C-101B-9397-08002B2CF9AE}" pid="4" name="Slides">
    <vt:i4>24</vt:i4>
  </property>
</Properties>
</file>