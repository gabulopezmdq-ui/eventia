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8"/>
  </p:notesMasterIdLst>
  <p:sldIdLst>
    <p:sldId id="256" r:id="rId3"/>
    <p:sldId id="295" r:id="rId4"/>
    <p:sldId id="257" r:id="rId5"/>
    <p:sldId id="291" r:id="rId6"/>
    <p:sldId id="307" r:id="rId7"/>
    <p:sldId id="308" r:id="rId8"/>
    <p:sldId id="309" r:id="rId9"/>
    <p:sldId id="310" r:id="rId10"/>
    <p:sldId id="311" r:id="rId11"/>
    <p:sldId id="312" r:id="rId12"/>
    <p:sldId id="296" r:id="rId13"/>
    <p:sldId id="294" r:id="rId14"/>
    <p:sldId id="313" r:id="rId15"/>
    <p:sldId id="314" r:id="rId16"/>
    <p:sldId id="315" r:id="rId17"/>
    <p:sldId id="316" r:id="rId18"/>
    <p:sldId id="317" r:id="rId19"/>
    <p:sldId id="318" r:id="rId20"/>
    <p:sldId id="320" r:id="rId21"/>
    <p:sldId id="321" r:id="rId22"/>
    <p:sldId id="322" r:id="rId23"/>
    <p:sldId id="323" r:id="rId24"/>
    <p:sldId id="324" r:id="rId25"/>
    <p:sldId id="325" r:id="rId26"/>
    <p:sldId id="319" r:id="rId2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603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44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4760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62215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3652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5344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9746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3994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8148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1452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4671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0720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7741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590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5578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7485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4695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131310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0201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2533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9504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4 – Liquidaciones: </a:t>
            </a:r>
          </a:p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Gestión de Mecanizadas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 – Liquidaciones: Gestión de Mecanizadas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4501282"/>
            <a:ext cx="8208464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442913"/>
            <a:r>
              <a:rPr lang="es-ES" spc="-1" dirty="0">
                <a:solidFill>
                  <a:srgbClr val="FFFFFF"/>
                </a:solidFill>
                <a:latin typeface="Alfabet Medium"/>
              </a:rPr>
              <a:t>Automatización: procesamiento automatizado de archivos mecanizados, reduciendo errores manuales</a:t>
            </a:r>
          </a:p>
          <a:p>
            <a:pPr marL="442913"/>
            <a:r>
              <a:rPr lang="es-ES" spc="-1" dirty="0">
                <a:solidFill>
                  <a:srgbClr val="FFFFFF"/>
                </a:solidFill>
                <a:latin typeface="Alfabet Medium"/>
              </a:rPr>
              <a:t>Flexibilidad: facilidad para corregir errores en los archivos y reprocesarlos sin afectar los datos ya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cargados</a:t>
            </a:r>
            <a:endParaRPr lang="es-AR" spc="-1" dirty="0">
              <a:solidFill>
                <a:srgbClr val="FFFFFF"/>
              </a:solidFill>
              <a:latin typeface="Alfabet Medium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577752" y="1412776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 del módulo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208464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1"/>
            <a:r>
              <a:rPr lang="es-ES" spc="-1" dirty="0">
                <a:solidFill>
                  <a:srgbClr val="FFFFFF"/>
                </a:solidFill>
                <a:latin typeface="Alfabet Medium"/>
              </a:rPr>
              <a:t>Registrar los periodos de liquidación y centralizar la información de cada proceso de liquidación de devoluciones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580256" y="4022200"/>
            <a:ext cx="6656040" cy="398655"/>
            <a:chOff x="577752" y="1158137"/>
            <a:chExt cx="6656040" cy="398655"/>
          </a:xfrm>
        </p:grpSpPr>
        <p:pic>
          <p:nvPicPr>
            <p:cNvPr id="1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577304" y="2751605"/>
            <a:ext cx="6656040" cy="398655"/>
            <a:chOff x="577752" y="1158137"/>
            <a:chExt cx="6656040" cy="398655"/>
          </a:xfrm>
        </p:grpSpPr>
        <p:pic>
          <p:nvPicPr>
            <p:cNvPr id="16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Relación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8" name="CuadroTexto 2"/>
          <p:cNvSpPr/>
          <p:nvPr/>
        </p:nvSpPr>
        <p:spPr>
          <a:xfrm>
            <a:off x="539552" y="3216171"/>
            <a:ext cx="8208464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1"/>
            <a:r>
              <a:rPr lang="es-AR" spc="-1" dirty="0">
                <a:solidFill>
                  <a:srgbClr val="FFFFFF"/>
                </a:solidFill>
                <a:latin typeface="Alfabet Medium"/>
              </a:rPr>
              <a:t>Cada registro de Cabecera se utilizará para vincular los registros de liquidaciones de mecanizadas, bajas e inasistencias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Menú del Módulo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9" name="Imagen 8"/>
          <p:cNvPicPr/>
          <p:nvPr/>
        </p:nvPicPr>
        <p:blipFill>
          <a:blip r:embed="rId5"/>
          <a:stretch>
            <a:fillRect/>
          </a:stretch>
        </p:blipFill>
        <p:spPr>
          <a:xfrm>
            <a:off x="537662" y="1155815"/>
            <a:ext cx="2837815" cy="459041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700" y="1155815"/>
            <a:ext cx="2886644" cy="4590415"/>
          </a:xfrm>
          <a:prstGeom prst="rect">
            <a:avLst/>
          </a:prstGeom>
        </p:spPr>
      </p:pic>
      <p:sp>
        <p:nvSpPr>
          <p:cNvPr id="3" name="Flecha a la derecha con bandas 2"/>
          <p:cNvSpPr/>
          <p:nvPr/>
        </p:nvSpPr>
        <p:spPr>
          <a:xfrm>
            <a:off x="3707904" y="3068960"/>
            <a:ext cx="792088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 de Liquidación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/>
          <p:nvPr/>
        </p:nvPicPr>
        <p:blipFill>
          <a:blip r:embed="rId5"/>
          <a:stretch>
            <a:fillRect/>
          </a:stretch>
        </p:blipFill>
        <p:spPr>
          <a:xfrm>
            <a:off x="107504" y="1196752"/>
            <a:ext cx="2088232" cy="3816424"/>
          </a:xfrm>
          <a:prstGeom prst="rect">
            <a:avLst/>
          </a:prstGeom>
        </p:spPr>
      </p:pic>
      <p:pic>
        <p:nvPicPr>
          <p:cNvPr id="16" name="Imagen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763688" y="2852936"/>
            <a:ext cx="7339219" cy="2931264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876256" y="3789041"/>
            <a:ext cx="393500" cy="393500"/>
          </a:xfrm>
          <a:prstGeom prst="rect">
            <a:avLst/>
          </a:prstGeom>
        </p:spPr>
      </p:pic>
      <p:sp>
        <p:nvSpPr>
          <p:cNvPr id="18" name="CuadroTexto 2"/>
          <p:cNvSpPr/>
          <p:nvPr/>
        </p:nvSpPr>
        <p:spPr>
          <a:xfrm>
            <a:off x="6477668" y="3338529"/>
            <a:ext cx="129614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Búsquedas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9" name="CuadroTexto 2"/>
          <p:cNvSpPr/>
          <p:nvPr/>
        </p:nvSpPr>
        <p:spPr>
          <a:xfrm>
            <a:off x="3040557" y="3501413"/>
            <a:ext cx="2002547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Nueva Cabecera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0" name="CuadroTexto 2"/>
          <p:cNvSpPr/>
          <p:nvPr/>
        </p:nvSpPr>
        <p:spPr>
          <a:xfrm>
            <a:off x="5159038" y="5013176"/>
            <a:ext cx="1573201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Área Listado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50" y="3489035"/>
            <a:ext cx="412774" cy="4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 de Liquidación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1340768"/>
            <a:ext cx="2656295" cy="144016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176" y="2253739"/>
            <a:ext cx="7452320" cy="347951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419872" y="1220559"/>
            <a:ext cx="5472608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1"/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El primer paso consiste en registrar </a:t>
            </a:r>
            <a:r>
              <a:rPr lang="es-ES" spc="-1" dirty="0">
                <a:solidFill>
                  <a:srgbClr val="FFFFFF"/>
                </a:solidFill>
                <a:latin typeface="Alfabet Medium"/>
              </a:rPr>
              <a:t>los periodos de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liquidación para luego poder </a:t>
            </a:r>
            <a:r>
              <a:rPr lang="es-ES" spc="-1" dirty="0">
                <a:solidFill>
                  <a:srgbClr val="FFFFFF"/>
                </a:solidFill>
                <a:latin typeface="Alfabet Medium"/>
              </a:rPr>
              <a:t>centralizar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y agrupar la </a:t>
            </a:r>
            <a:r>
              <a:rPr lang="es-ES" spc="-1" dirty="0">
                <a:solidFill>
                  <a:srgbClr val="FFFFFF"/>
                </a:solidFill>
                <a:latin typeface="Alfabet Medium"/>
              </a:rPr>
              <a:t>información de cada proceso de liquidación de devoluciones</a:t>
            </a:r>
          </a:p>
        </p:txBody>
      </p:sp>
    </p:spTree>
    <p:extLst>
      <p:ext uri="{BB962C8B-B14F-4D97-AF65-F5344CB8AC3E}">
        <p14:creationId xmlns:p14="http://schemas.microsoft.com/office/powerpoint/2010/main" val="265675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Cabecera de Liquidación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12" y="1268760"/>
            <a:ext cx="8820472" cy="1730432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7956376" y="2492896"/>
            <a:ext cx="720080" cy="3570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664" y="2671396"/>
            <a:ext cx="7342560" cy="3402523"/>
          </a:xfrm>
          <a:prstGeom prst="rect">
            <a:avLst/>
          </a:prstGeom>
        </p:spPr>
      </p:pic>
      <p:sp>
        <p:nvSpPr>
          <p:cNvPr id="6" name="Flecha curvada hacia la izquierda 5"/>
          <p:cNvSpPr/>
          <p:nvPr/>
        </p:nvSpPr>
        <p:spPr>
          <a:xfrm>
            <a:off x="8316416" y="3015036"/>
            <a:ext cx="468920" cy="1080120"/>
          </a:xfrm>
          <a:prstGeom prst="curved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87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Importación de Archivo Plano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0" name="Imagen 9"/>
          <p:cNvPicPr/>
          <p:nvPr/>
        </p:nvPicPr>
        <p:blipFill>
          <a:blip r:embed="rId5"/>
          <a:stretch>
            <a:fillRect/>
          </a:stretch>
        </p:blipFill>
        <p:spPr>
          <a:xfrm>
            <a:off x="107505" y="1124744"/>
            <a:ext cx="2160240" cy="3645196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>
          <a:blip r:embed="rId6"/>
          <a:stretch>
            <a:fillRect/>
          </a:stretch>
        </p:blipFill>
        <p:spPr>
          <a:xfrm>
            <a:off x="2051720" y="3140968"/>
            <a:ext cx="6984216" cy="2636685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2627784" y="1228398"/>
            <a:ext cx="6192688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Esta es la interfaz de Carga  de archivos de texto plano que permitirá:</a:t>
            </a:r>
            <a:endParaRPr lang="es-AR" sz="1600" spc="-1" dirty="0">
              <a:solidFill>
                <a:srgbClr val="FFFFFF"/>
              </a:solidFill>
              <a:latin typeface="Alfabet Medium"/>
            </a:endParaRPr>
          </a:p>
          <a:p>
            <a:pPr marL="442913" lvl="1" indent="-261938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Seleccionar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y cargar los archivos enviados por la Dirección General de Escuelas de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Provincia</a:t>
            </a:r>
          </a:p>
          <a:p>
            <a:pPr marL="442913" lvl="1" indent="-261938"/>
            <a:endParaRPr lang="es-AR" sz="1600" spc="-1" dirty="0">
              <a:solidFill>
                <a:srgbClr val="FFFFFF"/>
              </a:solidFill>
              <a:latin typeface="Alfabet Medium"/>
            </a:endParaRPr>
          </a:p>
          <a:p>
            <a:pPr marL="442913" lvl="1" indent="-261938"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Validar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el formato y la estructura del archivo antes de procesarlo</a:t>
            </a:r>
            <a:endParaRPr lang="es-AR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0272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Importación de Archivo Plano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9" name="Imagen 8"/>
          <p:cNvPicPr/>
          <p:nvPr/>
        </p:nvPicPr>
        <p:blipFill>
          <a:blip r:embed="rId5"/>
          <a:stretch>
            <a:fillRect/>
          </a:stretch>
        </p:blipFill>
        <p:spPr>
          <a:xfrm>
            <a:off x="389636" y="1465120"/>
            <a:ext cx="6840760" cy="2520280"/>
          </a:xfrm>
          <a:prstGeom prst="rect">
            <a:avLst/>
          </a:prstGeom>
        </p:spPr>
      </p:pic>
      <p:sp>
        <p:nvSpPr>
          <p:cNvPr id="12" name="Rectángulo redondeado 11"/>
          <p:cNvSpPr/>
          <p:nvPr/>
        </p:nvSpPr>
        <p:spPr>
          <a:xfrm>
            <a:off x="3053932" y="1897167"/>
            <a:ext cx="2160240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Cabecera</a:t>
            </a:r>
            <a:endParaRPr lang="es-AR" sz="1200" dirty="0"/>
          </a:p>
        </p:txBody>
      </p:sp>
      <p:sp>
        <p:nvSpPr>
          <p:cNvPr id="13" name="Elipse 12"/>
          <p:cNvSpPr/>
          <p:nvPr/>
        </p:nvSpPr>
        <p:spPr>
          <a:xfrm>
            <a:off x="2548361" y="1837275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14" name="Rectángulo redondeado 13"/>
          <p:cNvSpPr/>
          <p:nvPr/>
        </p:nvSpPr>
        <p:spPr>
          <a:xfrm>
            <a:off x="418837" y="1829317"/>
            <a:ext cx="2052442" cy="391899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5" name="Imagen 14"/>
          <p:cNvPicPr/>
          <p:nvPr/>
        </p:nvPicPr>
        <p:blipFill>
          <a:blip r:embed="rId6"/>
          <a:stretch>
            <a:fillRect/>
          </a:stretch>
        </p:blipFill>
        <p:spPr>
          <a:xfrm>
            <a:off x="2556336" y="2716138"/>
            <a:ext cx="5400040" cy="1504950"/>
          </a:xfrm>
          <a:prstGeom prst="rect">
            <a:avLst/>
          </a:prstGeom>
        </p:spPr>
      </p:pic>
      <p:sp>
        <p:nvSpPr>
          <p:cNvPr id="16" name="Rectángulo redondeado 15"/>
          <p:cNvSpPr/>
          <p:nvPr/>
        </p:nvSpPr>
        <p:spPr>
          <a:xfrm>
            <a:off x="2693892" y="3121305"/>
            <a:ext cx="3456384" cy="86409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Flecha curvada hacia la derecha 1"/>
          <p:cNvSpPr/>
          <p:nvPr/>
        </p:nvSpPr>
        <p:spPr>
          <a:xfrm>
            <a:off x="1476216" y="2413442"/>
            <a:ext cx="576064" cy="1224136"/>
          </a:xfrm>
          <a:prstGeom prst="curv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34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71" y="1124744"/>
            <a:ext cx="7704762" cy="1219048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Importación de Archivo Plano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6" name="Rectángulo redondeado 15"/>
          <p:cNvSpPr/>
          <p:nvPr/>
        </p:nvSpPr>
        <p:spPr>
          <a:xfrm>
            <a:off x="5652120" y="1664752"/>
            <a:ext cx="1440160" cy="5411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redondeado 16"/>
          <p:cNvSpPr/>
          <p:nvPr/>
        </p:nvSpPr>
        <p:spPr>
          <a:xfrm>
            <a:off x="2843808" y="1608718"/>
            <a:ext cx="2160240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Archivo</a:t>
            </a:r>
            <a:endParaRPr lang="es-AR" sz="1200" dirty="0"/>
          </a:p>
        </p:txBody>
      </p:sp>
      <p:sp>
        <p:nvSpPr>
          <p:cNvPr id="18" name="Elipse 17"/>
          <p:cNvSpPr/>
          <p:nvPr/>
        </p:nvSpPr>
        <p:spPr>
          <a:xfrm>
            <a:off x="5113840" y="1704780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571" y="2058458"/>
            <a:ext cx="4438448" cy="3150865"/>
          </a:xfrm>
          <a:prstGeom prst="rect">
            <a:avLst/>
          </a:prstGeom>
        </p:spPr>
      </p:pic>
      <p:sp>
        <p:nvSpPr>
          <p:cNvPr id="5" name="Flecha curvada hacia la izquierda 4"/>
          <p:cNvSpPr/>
          <p:nvPr/>
        </p:nvSpPr>
        <p:spPr>
          <a:xfrm>
            <a:off x="5468200" y="2343792"/>
            <a:ext cx="720080" cy="1440160"/>
          </a:xfrm>
          <a:prstGeom prst="curved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7394" y="4967870"/>
            <a:ext cx="6069452" cy="993048"/>
          </a:xfrm>
          <a:prstGeom prst="rect">
            <a:avLst/>
          </a:prstGeom>
        </p:spPr>
      </p:pic>
      <p:sp>
        <p:nvSpPr>
          <p:cNvPr id="19" name="Rectángulo redondeado 18"/>
          <p:cNvSpPr/>
          <p:nvPr/>
        </p:nvSpPr>
        <p:spPr>
          <a:xfrm>
            <a:off x="7812360" y="5373216"/>
            <a:ext cx="716962" cy="43204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5566970" y="4712765"/>
            <a:ext cx="2160240" cy="480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Iniciar Importación de Archivo</a:t>
            </a:r>
            <a:endParaRPr lang="es-AR" sz="1200" dirty="0"/>
          </a:p>
        </p:txBody>
      </p:sp>
      <p:sp>
        <p:nvSpPr>
          <p:cNvPr id="21" name="Elipse 20"/>
          <p:cNvSpPr/>
          <p:nvPr/>
        </p:nvSpPr>
        <p:spPr>
          <a:xfrm>
            <a:off x="7837002" y="480882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22137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Importación de Archivo Plano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2" name="Imagen 21"/>
          <p:cNvPicPr/>
          <p:nvPr/>
        </p:nvPicPr>
        <p:blipFill>
          <a:blip r:embed="rId5"/>
          <a:stretch>
            <a:fillRect/>
          </a:stretch>
        </p:blipFill>
        <p:spPr>
          <a:xfrm>
            <a:off x="323528" y="1196752"/>
            <a:ext cx="5400040" cy="1963420"/>
          </a:xfrm>
          <a:prstGeom prst="rect">
            <a:avLst/>
          </a:prstGeom>
        </p:spPr>
      </p:pic>
      <p:sp>
        <p:nvSpPr>
          <p:cNvPr id="23" name="Rectángulo redondeado 22"/>
          <p:cNvSpPr/>
          <p:nvPr/>
        </p:nvSpPr>
        <p:spPr>
          <a:xfrm>
            <a:off x="3743068" y="1674839"/>
            <a:ext cx="2989172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Indica fin del proceso de importación</a:t>
            </a:r>
            <a:endParaRPr lang="es-AR" sz="1200" dirty="0"/>
          </a:p>
        </p:txBody>
      </p:sp>
      <p:sp>
        <p:nvSpPr>
          <p:cNvPr id="24" name="Elipse 23"/>
          <p:cNvSpPr/>
          <p:nvPr/>
        </p:nvSpPr>
        <p:spPr>
          <a:xfrm>
            <a:off x="3023548" y="1626886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4</a:t>
            </a:r>
            <a:endParaRPr lang="es-AR" dirty="0"/>
          </a:p>
        </p:txBody>
      </p:sp>
      <p:sp>
        <p:nvSpPr>
          <p:cNvPr id="25" name="Rectángulo redondeado 24"/>
          <p:cNvSpPr/>
          <p:nvPr/>
        </p:nvSpPr>
        <p:spPr>
          <a:xfrm>
            <a:off x="395536" y="1576866"/>
            <a:ext cx="2448272" cy="48398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6" name="Imagen 25"/>
          <p:cNvPicPr/>
          <p:nvPr/>
        </p:nvPicPr>
        <p:blipFill>
          <a:blip r:embed="rId6"/>
          <a:stretch>
            <a:fillRect/>
          </a:stretch>
        </p:blipFill>
        <p:spPr>
          <a:xfrm>
            <a:off x="2915816" y="2348880"/>
            <a:ext cx="5939198" cy="3737939"/>
          </a:xfrm>
          <a:prstGeom prst="rect">
            <a:avLst/>
          </a:prstGeom>
        </p:spPr>
      </p:pic>
      <p:sp>
        <p:nvSpPr>
          <p:cNvPr id="27" name="Flecha curvada hacia la derecha 26"/>
          <p:cNvSpPr/>
          <p:nvPr/>
        </p:nvSpPr>
        <p:spPr>
          <a:xfrm>
            <a:off x="1547664" y="2280296"/>
            <a:ext cx="576064" cy="1224136"/>
          </a:xfrm>
          <a:prstGeom prst="curv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28" name="Rectángulo redondeado 27"/>
          <p:cNvSpPr/>
          <p:nvPr/>
        </p:nvSpPr>
        <p:spPr>
          <a:xfrm>
            <a:off x="611560" y="4220972"/>
            <a:ext cx="2160240" cy="480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Información levantada del Archivo</a:t>
            </a:r>
            <a:endParaRPr lang="es-AR" sz="1200" dirty="0"/>
          </a:p>
        </p:txBody>
      </p:sp>
      <p:sp>
        <p:nvSpPr>
          <p:cNvPr id="29" name="Elipse 28"/>
          <p:cNvSpPr/>
          <p:nvPr/>
        </p:nvSpPr>
        <p:spPr>
          <a:xfrm>
            <a:off x="2881592" y="4317034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4397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Reversión de Importación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11"/>
          <p:cNvPicPr/>
          <p:nvPr/>
        </p:nvPicPr>
        <p:blipFill>
          <a:blip r:embed="rId5"/>
          <a:stretch>
            <a:fillRect/>
          </a:stretch>
        </p:blipFill>
        <p:spPr>
          <a:xfrm>
            <a:off x="251521" y="1284403"/>
            <a:ext cx="2160240" cy="3440741"/>
          </a:xfrm>
          <a:prstGeom prst="rect">
            <a:avLst/>
          </a:prstGeom>
        </p:spPr>
      </p:pic>
      <p:pic>
        <p:nvPicPr>
          <p:cNvPr id="15" name="Imagen 14"/>
          <p:cNvPicPr/>
          <p:nvPr/>
        </p:nvPicPr>
        <p:blipFill>
          <a:blip r:embed="rId6"/>
          <a:stretch>
            <a:fillRect/>
          </a:stretch>
        </p:blipFill>
        <p:spPr>
          <a:xfrm>
            <a:off x="2699792" y="3501008"/>
            <a:ext cx="6192128" cy="1426969"/>
          </a:xfrm>
          <a:prstGeom prst="rect">
            <a:avLst/>
          </a:prstGeom>
        </p:spPr>
      </p:pic>
      <p:sp>
        <p:nvSpPr>
          <p:cNvPr id="18" name="Rectángulo redondeado 17"/>
          <p:cNvSpPr/>
          <p:nvPr/>
        </p:nvSpPr>
        <p:spPr>
          <a:xfrm>
            <a:off x="529629" y="4716988"/>
            <a:ext cx="2055213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Cabecera</a:t>
            </a:r>
            <a:endParaRPr lang="es-AR" sz="1200" dirty="0"/>
          </a:p>
        </p:txBody>
      </p:sp>
      <p:sp>
        <p:nvSpPr>
          <p:cNvPr id="20" name="Rectángulo redondeado 19"/>
          <p:cNvSpPr/>
          <p:nvPr/>
        </p:nvSpPr>
        <p:spPr>
          <a:xfrm>
            <a:off x="2789382" y="3861048"/>
            <a:ext cx="2448272" cy="864096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Elipse 18"/>
          <p:cNvSpPr/>
          <p:nvPr/>
        </p:nvSpPr>
        <p:spPr>
          <a:xfrm>
            <a:off x="2699792" y="4634590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7740352" y="3933056"/>
            <a:ext cx="864096" cy="43204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Elipse 21"/>
          <p:cNvSpPr/>
          <p:nvPr/>
        </p:nvSpPr>
        <p:spPr>
          <a:xfrm>
            <a:off x="7526108" y="426882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  <p:sp>
        <p:nvSpPr>
          <p:cNvPr id="23" name="Rectángulo redondeado 22"/>
          <p:cNvSpPr/>
          <p:nvPr/>
        </p:nvSpPr>
        <p:spPr>
          <a:xfrm>
            <a:off x="6660232" y="4783960"/>
            <a:ext cx="2055213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Presionar Revertir</a:t>
            </a:r>
            <a:endParaRPr lang="es-AR" sz="1200" dirty="0"/>
          </a:p>
        </p:txBody>
      </p:sp>
      <p:sp>
        <p:nvSpPr>
          <p:cNvPr id="24" name="Rectángulo 23"/>
          <p:cNvSpPr/>
          <p:nvPr/>
        </p:nvSpPr>
        <p:spPr>
          <a:xfrm>
            <a:off x="2685882" y="1283350"/>
            <a:ext cx="6206038" cy="20928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400" spc="-1" dirty="0">
                <a:solidFill>
                  <a:srgbClr val="FFFFFF"/>
                </a:solidFill>
                <a:latin typeface="Alfabet Medium"/>
              </a:rPr>
              <a:t>Si ocurriera algún error durante la importación, que no permitiera finalizar la importación de todos los registros (por ejemplo corte de luz, corte de red, etc.) </a:t>
            </a:r>
            <a:r>
              <a:rPr lang="es-ES" sz="1400" spc="-1" dirty="0" smtClean="0">
                <a:solidFill>
                  <a:srgbClr val="FFFFFF"/>
                </a:solidFill>
                <a:latin typeface="Alfabet Medium"/>
              </a:rPr>
              <a:t>existe un proceso </a:t>
            </a:r>
            <a:r>
              <a:rPr lang="es-ES" sz="1400" spc="-1" dirty="0">
                <a:solidFill>
                  <a:srgbClr val="FFFFFF"/>
                </a:solidFill>
                <a:latin typeface="Alfabet Medium"/>
              </a:rPr>
              <a:t>que permitirá revertir o borrar todos los registros importados hasta el momento del incidente:</a:t>
            </a:r>
          </a:p>
          <a:p>
            <a:endParaRPr lang="es-ES" sz="1400" spc="-1" dirty="0">
              <a:solidFill>
                <a:srgbClr val="FFFFFF"/>
              </a:solidFill>
              <a:latin typeface="Alfabet Medium"/>
            </a:endParaRP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s-ES" sz="1200" spc="-1" dirty="0">
                <a:solidFill>
                  <a:srgbClr val="FFFFFF"/>
                </a:solidFill>
                <a:latin typeface="Alfabet Medium"/>
              </a:rPr>
              <a:t>se borrarán todos los registros importados en una cabecera específica que aún no hayan sido procesados</a:t>
            </a:r>
            <a:endParaRPr lang="es-AR" sz="1200" spc="-1" dirty="0">
              <a:solidFill>
                <a:srgbClr val="FFFFFF"/>
              </a:solidFill>
              <a:latin typeface="Alfabet Medium"/>
            </a:endParaRPr>
          </a:p>
          <a:p>
            <a:pPr marL="342900" lvl="0" indent="-342900">
              <a:buFont typeface="Courier New" panose="02070309020205020404" pitchFamily="49" charset="0"/>
              <a:buChar char="o"/>
            </a:pPr>
            <a:r>
              <a:rPr lang="es-ES" sz="1200" spc="-1" dirty="0">
                <a:solidFill>
                  <a:srgbClr val="FFFFFF"/>
                </a:solidFill>
                <a:latin typeface="Alfabet Medium"/>
              </a:rPr>
              <a:t>se insertará un registro en un historial de estados para dicha Cabeceras, para poder tener una auditoría de todos los procesos que se llevaron a cabo en una liquidación </a:t>
            </a:r>
            <a:r>
              <a:rPr lang="es-ES" sz="1200" spc="-1" dirty="0" smtClean="0">
                <a:solidFill>
                  <a:srgbClr val="FFFFFF"/>
                </a:solidFill>
                <a:latin typeface="Alfabet Medium"/>
              </a:rPr>
              <a:t>determinada</a:t>
            </a:r>
            <a:endParaRPr lang="es-AR" sz="12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218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Procesamiento de Archivo importado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4" name="Imagen 13"/>
          <p:cNvPicPr/>
          <p:nvPr/>
        </p:nvPicPr>
        <p:blipFill>
          <a:blip r:embed="rId5"/>
          <a:stretch>
            <a:fillRect/>
          </a:stretch>
        </p:blipFill>
        <p:spPr>
          <a:xfrm>
            <a:off x="251521" y="1268759"/>
            <a:ext cx="2160239" cy="4032449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2685882" y="1283350"/>
            <a:ext cx="6206038" cy="403187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Esta funcionalidad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permite recorrer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el archivo plano importado y detectar los errores o inconsistencias que posea, previo al proceso de cruzamiento de datos con POF, Bajas e Inasistencias.</a:t>
            </a:r>
          </a:p>
          <a:p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Detecta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errores a nivel: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Establecimiento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Paramétricas (Cód. Función, Conceptos, Carácter de Revista, Tipos Establecimientos)</a:t>
            </a:r>
            <a:endParaRPr lang="es-AR" sz="1400" spc="-1" dirty="0">
              <a:solidFill>
                <a:srgbClr val="FFFFFF"/>
              </a:solidFill>
              <a:latin typeface="Alfabet Medium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Persona y/o POF no encontrada en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Base de Datos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Muestra los </a:t>
            </a:r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errores para que se puedan corregir en el 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sistema.</a:t>
            </a:r>
          </a:p>
          <a:p>
            <a:endParaRPr lang="es-ES" sz="1600" spc="-1" dirty="0">
              <a:solidFill>
                <a:srgbClr val="FFFFFF"/>
              </a:solidFill>
              <a:latin typeface="Alfabet Medium"/>
            </a:endParaRPr>
          </a:p>
          <a:p>
            <a:r>
              <a:rPr lang="es-ES" sz="1600" spc="-1" dirty="0">
                <a:solidFill>
                  <a:srgbClr val="FFFFFF"/>
                </a:solidFill>
                <a:latin typeface="Alfabet Medium"/>
              </a:rPr>
              <a:t>Si el archivo no contuviera errores, se marcará la Cabecera como “Archivo Procesado” y generará la correspondiente estructura que será la base de la liquidación.</a:t>
            </a:r>
            <a:endParaRPr lang="es-AR" sz="16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6623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Procesamiento de Archivo importado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8" name="Imagen 7"/>
          <p:cNvPicPr/>
          <p:nvPr/>
        </p:nvPicPr>
        <p:blipFill>
          <a:blip r:embed="rId5"/>
          <a:stretch>
            <a:fillRect/>
          </a:stretch>
        </p:blipFill>
        <p:spPr>
          <a:xfrm>
            <a:off x="323528" y="1484784"/>
            <a:ext cx="8136904" cy="1656184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1530615" y="2997997"/>
            <a:ext cx="2055213" cy="2880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Cabecera</a:t>
            </a:r>
            <a:endParaRPr lang="es-AR" sz="1200" dirty="0"/>
          </a:p>
        </p:txBody>
      </p:sp>
      <p:sp>
        <p:nvSpPr>
          <p:cNvPr id="10" name="Rectángulo redondeado 9"/>
          <p:cNvSpPr/>
          <p:nvPr/>
        </p:nvSpPr>
        <p:spPr>
          <a:xfrm>
            <a:off x="680008" y="2042568"/>
            <a:ext cx="2448272" cy="666352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971236" y="294899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2" name="Rectángulo redondeado 11"/>
          <p:cNvSpPr/>
          <p:nvPr/>
        </p:nvSpPr>
        <p:spPr>
          <a:xfrm>
            <a:off x="4703836" y="2096852"/>
            <a:ext cx="1956396" cy="61206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Elipse 12"/>
          <p:cNvSpPr/>
          <p:nvPr/>
        </p:nvSpPr>
        <p:spPr>
          <a:xfrm>
            <a:off x="5253546" y="2778838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5796136" y="2780928"/>
            <a:ext cx="2055213" cy="5051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Presionar Procesar Archivo Importado</a:t>
            </a:r>
            <a:endParaRPr lang="es-AR" sz="1200" dirty="0"/>
          </a:p>
        </p:txBody>
      </p:sp>
      <p:sp>
        <p:nvSpPr>
          <p:cNvPr id="16" name="CuadroTexto 2"/>
          <p:cNvSpPr/>
          <p:nvPr/>
        </p:nvSpPr>
        <p:spPr>
          <a:xfrm>
            <a:off x="1259632" y="3853015"/>
            <a:ext cx="5616176" cy="107576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u="sng" dirty="0" smtClean="0"/>
              <a:t>IMPORTANTE</a:t>
            </a:r>
            <a:r>
              <a:rPr lang="es-ES" sz="1600" dirty="0" smtClean="0"/>
              <a:t>: Este proceso recorre un archivo con un volumen importante de información y realiza chequeos y entrecruzamiento de datos de diferentes tablas, por lo que demora unos minutos.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05228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Procesamiento de Archivo importado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4" name="Imagen 13"/>
          <p:cNvPicPr/>
          <p:nvPr/>
        </p:nvPicPr>
        <p:blipFill>
          <a:blip r:embed="rId5"/>
          <a:stretch>
            <a:fillRect/>
          </a:stretch>
        </p:blipFill>
        <p:spPr>
          <a:xfrm>
            <a:off x="107504" y="1196752"/>
            <a:ext cx="7344816" cy="4649054"/>
          </a:xfrm>
          <a:prstGeom prst="rect">
            <a:avLst/>
          </a:prstGeom>
        </p:spPr>
      </p:pic>
      <p:sp>
        <p:nvSpPr>
          <p:cNvPr id="17" name="CuadroTexto 2"/>
          <p:cNvSpPr/>
          <p:nvPr/>
        </p:nvSpPr>
        <p:spPr>
          <a:xfrm>
            <a:off x="3295042" y="2146687"/>
            <a:ext cx="4805350" cy="107576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Si el archivo contenía errores, se mostrarán en una grilla y se habilitará un botón “Ver Errores” para poder obtener un archivo </a:t>
            </a:r>
            <a:r>
              <a:rPr lang="es-ES" sz="1600" dirty="0" err="1" smtClean="0"/>
              <a:t>pdf</a:t>
            </a:r>
            <a:r>
              <a:rPr lang="es-ES" sz="1600" dirty="0" smtClean="0"/>
              <a:t> con el detalle de errores para poder corregirlos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8" name="Rectángulo redondeado 17"/>
          <p:cNvSpPr/>
          <p:nvPr/>
        </p:nvSpPr>
        <p:spPr>
          <a:xfrm>
            <a:off x="3419872" y="5301208"/>
            <a:ext cx="720080" cy="43204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CuadroTexto 2"/>
          <p:cNvSpPr/>
          <p:nvPr/>
        </p:nvSpPr>
        <p:spPr>
          <a:xfrm>
            <a:off x="323528" y="2240490"/>
            <a:ext cx="273630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1: Archivo con errores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1" name="Imagen 20"/>
          <p:cNvPicPr/>
          <p:nvPr/>
        </p:nvPicPr>
        <p:blipFill>
          <a:blip r:embed="rId6"/>
          <a:stretch>
            <a:fillRect/>
          </a:stretch>
        </p:blipFill>
        <p:spPr>
          <a:xfrm>
            <a:off x="5004048" y="4293096"/>
            <a:ext cx="3672408" cy="2251660"/>
          </a:xfrm>
          <a:prstGeom prst="rect">
            <a:avLst/>
          </a:prstGeom>
        </p:spPr>
      </p:pic>
      <p:sp>
        <p:nvSpPr>
          <p:cNvPr id="2" name="Flecha a la derecha con bandas 1"/>
          <p:cNvSpPr/>
          <p:nvPr/>
        </p:nvSpPr>
        <p:spPr>
          <a:xfrm>
            <a:off x="4283968" y="5301208"/>
            <a:ext cx="504056" cy="432048"/>
          </a:xfrm>
          <a:prstGeom prst="strip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CuadroTexto 2"/>
          <p:cNvSpPr/>
          <p:nvPr/>
        </p:nvSpPr>
        <p:spPr>
          <a:xfrm>
            <a:off x="3259038" y="3331201"/>
            <a:ext cx="4805350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Se corrigen los errores, se revierte la importación y se vuelve a importar el archivo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3703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2060848"/>
            <a:ext cx="6192688" cy="1705773"/>
          </a:xfrm>
          <a:prstGeom prst="rect">
            <a:avLst/>
          </a:prstGeom>
        </p:spPr>
      </p:pic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4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Procesamiento de Archivo importado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0" name="CuadroTexto 2"/>
          <p:cNvSpPr/>
          <p:nvPr/>
        </p:nvSpPr>
        <p:spPr>
          <a:xfrm>
            <a:off x="467544" y="1464231"/>
            <a:ext cx="273630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2: Archivo sin errores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3707904" y="3234999"/>
            <a:ext cx="720080" cy="41002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2"/>
          <p:cNvSpPr/>
          <p:nvPr/>
        </p:nvSpPr>
        <p:spPr>
          <a:xfrm>
            <a:off x="3728949" y="3994029"/>
            <a:ext cx="4805350" cy="58332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Si el archivo no contenía errores, se habilita el botón “Procesar”.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43436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2060848"/>
            <a:ext cx="6192688" cy="1705773"/>
          </a:xfrm>
          <a:prstGeom prst="rect">
            <a:avLst/>
          </a:prstGeom>
        </p:spPr>
      </p:pic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4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Procesamiento de Archivo importado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0" name="CuadroTexto 2"/>
          <p:cNvSpPr/>
          <p:nvPr/>
        </p:nvSpPr>
        <p:spPr>
          <a:xfrm>
            <a:off x="467544" y="1464231"/>
            <a:ext cx="2736304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Caso 2: Archivo sin errores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3707904" y="3234999"/>
            <a:ext cx="720080" cy="41002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2"/>
          <p:cNvSpPr/>
          <p:nvPr/>
        </p:nvSpPr>
        <p:spPr>
          <a:xfrm>
            <a:off x="6042317" y="2498962"/>
            <a:ext cx="2448272" cy="829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Si el archivo no contenía errores, se habilita el botón “Procesar”.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292080" y="2721762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3" name="Elipse 12"/>
          <p:cNvSpPr/>
          <p:nvPr/>
        </p:nvSpPr>
        <p:spPr>
          <a:xfrm>
            <a:off x="4575177" y="3237555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  <p:pic>
        <p:nvPicPr>
          <p:cNvPr id="14" name="Imagen 13"/>
          <p:cNvPicPr/>
          <p:nvPr/>
        </p:nvPicPr>
        <p:blipFill>
          <a:blip r:embed="rId6"/>
          <a:stretch>
            <a:fillRect/>
          </a:stretch>
        </p:blipFill>
        <p:spPr>
          <a:xfrm>
            <a:off x="492786" y="4115462"/>
            <a:ext cx="7031542" cy="1689802"/>
          </a:xfrm>
          <a:prstGeom prst="rect">
            <a:avLst/>
          </a:prstGeom>
        </p:spPr>
      </p:pic>
      <p:sp>
        <p:nvSpPr>
          <p:cNvPr id="15" name="Rectángulo redondeado 14"/>
          <p:cNvSpPr/>
          <p:nvPr/>
        </p:nvSpPr>
        <p:spPr>
          <a:xfrm>
            <a:off x="560768" y="4422045"/>
            <a:ext cx="1562960" cy="51912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Elipse 15"/>
          <p:cNvSpPr/>
          <p:nvPr/>
        </p:nvSpPr>
        <p:spPr>
          <a:xfrm>
            <a:off x="2267744" y="4489635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6962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7" name="Imagen 16"/>
          <p:cNvPicPr/>
          <p:nvPr/>
        </p:nvPicPr>
        <p:blipFill>
          <a:blip r:embed="rId5"/>
          <a:stretch>
            <a:fillRect/>
          </a:stretch>
        </p:blipFill>
        <p:spPr>
          <a:xfrm>
            <a:off x="323529" y="1484784"/>
            <a:ext cx="2304256" cy="3903474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3491880" y="2276872"/>
            <a:ext cx="4572000" cy="203132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Visualización de registros importados en el archivo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Agregar </a:t>
            </a:r>
            <a:r>
              <a:rPr lang="es-ES" spc="-1" dirty="0">
                <a:solidFill>
                  <a:srgbClr val="FFFFFF"/>
                </a:solidFill>
                <a:latin typeface="Alfabet Medium"/>
              </a:rPr>
              <a:t>Docentes que están en POF pero no en la Mecanizada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(Sin </a:t>
            </a:r>
            <a:r>
              <a:rPr lang="es-ES" spc="-1" dirty="0">
                <a:solidFill>
                  <a:srgbClr val="FFFFFF"/>
                </a:solidFill>
                <a:latin typeface="Alfabet Medium"/>
              </a:rPr>
              <a:t>Haberes o No 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Subvencionados)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Agregar Suplentes y datos de la Suplencia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1295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412776"/>
            <a:ext cx="8892480" cy="2178288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7524328" y="2649953"/>
            <a:ext cx="648072" cy="39698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6948264" y="2649953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463" y="3645024"/>
            <a:ext cx="7668344" cy="256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1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8" name="Imagen 7"/>
          <p:cNvPicPr/>
          <p:nvPr/>
        </p:nvPicPr>
        <p:blipFill>
          <a:blip r:embed="rId5"/>
          <a:stretch>
            <a:fillRect/>
          </a:stretch>
        </p:blipFill>
        <p:spPr>
          <a:xfrm>
            <a:off x="179512" y="1244311"/>
            <a:ext cx="6120680" cy="3888432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6228184" y="3429000"/>
            <a:ext cx="2736304" cy="120032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Sección registros importados (docentes – códigos de liquidación)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241886" y="2990034"/>
            <a:ext cx="5914289" cy="195113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408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/>
          <p:nvPr/>
        </p:nvPicPr>
        <p:blipFill>
          <a:blip r:embed="rId5"/>
          <a:stretch>
            <a:fillRect/>
          </a:stretch>
        </p:blipFill>
        <p:spPr>
          <a:xfrm>
            <a:off x="395536" y="1612596"/>
            <a:ext cx="8064896" cy="267645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2267744" y="3948177"/>
            <a:ext cx="2736304" cy="9233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Sección Docentes que están en POF pero no en el archivo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400573" y="1819338"/>
            <a:ext cx="7915843" cy="195113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03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8" name="Imagen 7"/>
          <p:cNvPicPr/>
          <p:nvPr/>
        </p:nvPicPr>
        <p:blipFill>
          <a:blip r:embed="rId5"/>
          <a:stretch>
            <a:fillRect/>
          </a:stretch>
        </p:blipFill>
        <p:spPr>
          <a:xfrm>
            <a:off x="323528" y="1484784"/>
            <a:ext cx="6480720" cy="3456384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6516216" y="2420888"/>
            <a:ext cx="2289530" cy="9233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Sección Suplentes (docentes del archivo)</a:t>
            </a:r>
            <a:endParaRPr lang="es-ES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348409" y="1523381"/>
            <a:ext cx="6023791" cy="248168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316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9" name="Imagen 8"/>
          <p:cNvPicPr/>
          <p:nvPr/>
        </p:nvPicPr>
        <p:blipFill>
          <a:blip r:embed="rId5"/>
          <a:stretch>
            <a:fillRect/>
          </a:stretch>
        </p:blipFill>
        <p:spPr>
          <a:xfrm>
            <a:off x="426122" y="2276872"/>
            <a:ext cx="5400040" cy="1128395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6"/>
          <a:stretch>
            <a:fillRect/>
          </a:stretch>
        </p:blipFill>
        <p:spPr>
          <a:xfrm>
            <a:off x="395536" y="1124744"/>
            <a:ext cx="5400040" cy="1089025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5147504" y="2804866"/>
            <a:ext cx="648072" cy="39698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Elipse 14"/>
          <p:cNvSpPr/>
          <p:nvPr/>
        </p:nvSpPr>
        <p:spPr>
          <a:xfrm>
            <a:off x="5826162" y="2483732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16" name="Rectángulo redondeado 15"/>
          <p:cNvSpPr/>
          <p:nvPr/>
        </p:nvSpPr>
        <p:spPr>
          <a:xfrm>
            <a:off x="6444208" y="2483732"/>
            <a:ext cx="2160240" cy="480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Ingreso de Docente en POF a la Mecanizada</a:t>
            </a:r>
            <a:endParaRPr lang="es-AR" sz="1200" dirty="0"/>
          </a:p>
        </p:txBody>
      </p:sp>
      <p:pic>
        <p:nvPicPr>
          <p:cNvPr id="17" name="Imagen 16"/>
          <p:cNvPicPr/>
          <p:nvPr/>
        </p:nvPicPr>
        <p:blipFill>
          <a:blip r:embed="rId7"/>
          <a:stretch>
            <a:fillRect/>
          </a:stretch>
        </p:blipFill>
        <p:spPr>
          <a:xfrm>
            <a:off x="445068" y="3645024"/>
            <a:ext cx="3838900" cy="2592288"/>
          </a:xfrm>
          <a:prstGeom prst="rect">
            <a:avLst/>
          </a:prstGeom>
        </p:spPr>
      </p:pic>
      <p:pic>
        <p:nvPicPr>
          <p:cNvPr id="18" name="Imagen 17"/>
          <p:cNvPicPr/>
          <p:nvPr/>
        </p:nvPicPr>
        <p:blipFill>
          <a:blip r:embed="rId8"/>
          <a:stretch>
            <a:fillRect/>
          </a:stretch>
        </p:blipFill>
        <p:spPr>
          <a:xfrm>
            <a:off x="3678772" y="3799223"/>
            <a:ext cx="5151755" cy="170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0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13" name="Imagen 12"/>
          <p:cNvPicPr/>
          <p:nvPr/>
        </p:nvPicPr>
        <p:blipFill>
          <a:blip r:embed="rId5"/>
          <a:stretch>
            <a:fillRect/>
          </a:stretch>
        </p:blipFill>
        <p:spPr>
          <a:xfrm>
            <a:off x="517037" y="1196752"/>
            <a:ext cx="705892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0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Consolidación de Mecanizada y POF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6" name="Imagen 5"/>
          <p:cNvPicPr/>
          <p:nvPr/>
        </p:nvPicPr>
        <p:blipFill>
          <a:blip r:embed="rId5"/>
          <a:stretch>
            <a:fillRect/>
          </a:stretch>
        </p:blipFill>
        <p:spPr>
          <a:xfrm>
            <a:off x="251520" y="1425334"/>
            <a:ext cx="5544056" cy="1499610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5826162" y="2132856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AR" dirty="0"/>
          </a:p>
        </p:txBody>
      </p:sp>
      <p:sp>
        <p:nvSpPr>
          <p:cNvPr id="8" name="Rectángulo redondeado 7"/>
          <p:cNvSpPr/>
          <p:nvPr/>
        </p:nvSpPr>
        <p:spPr>
          <a:xfrm>
            <a:off x="6444208" y="2132856"/>
            <a:ext cx="2160240" cy="4800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Gestionar datos de suplentes</a:t>
            </a:r>
            <a:endParaRPr lang="es-AR" sz="1200" dirty="0"/>
          </a:p>
        </p:txBody>
      </p:sp>
      <p:pic>
        <p:nvPicPr>
          <p:cNvPr id="9" name="Imagen 8"/>
          <p:cNvPicPr/>
          <p:nvPr/>
        </p:nvPicPr>
        <p:blipFill>
          <a:blip r:embed="rId6"/>
          <a:stretch>
            <a:fillRect/>
          </a:stretch>
        </p:blipFill>
        <p:spPr>
          <a:xfrm>
            <a:off x="3635896" y="3028890"/>
            <a:ext cx="5104130" cy="318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4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008360" y="482760"/>
            <a:ext cx="745207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800" b="0" strike="noStrike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Fin Hito 1</a:t>
            </a:r>
            <a:endParaRPr lang="es-AR" sz="2800" b="0" strike="noStrike" spc="-1" dirty="0">
              <a:latin typeface="Arial"/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8" name="CuadroTexto 2"/>
          <p:cNvSpPr/>
          <p:nvPr/>
        </p:nvSpPr>
        <p:spPr>
          <a:xfrm>
            <a:off x="539552" y="1052736"/>
            <a:ext cx="7992888" cy="50460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16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Entregas</a:t>
            </a: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Menú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Seguridad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Usuarios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Usuarios por 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Usuarios por Establecimientos</a:t>
            </a:r>
            <a:endParaRPr lang="es-ES" sz="1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Conceptos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Caracteres de Revista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Establecimientos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Establecimientos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Funciones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Liquidaciones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Tipos de Categorías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Gestión de Personas / Gestión de POF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16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Carga de Antigüedades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600" spc="-1" dirty="0">
                <a:solidFill>
                  <a:srgbClr val="FFFFFF"/>
                </a:solidFill>
                <a:latin typeface="Alfabet Medium"/>
                <a:ea typeface="DejaVu Sans"/>
              </a:rPr>
              <a:t>Gestión de Liquidaciones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spc="-1" dirty="0">
                <a:solidFill>
                  <a:srgbClr val="FFFFFF"/>
                </a:solidFill>
                <a:latin typeface="Alfabet Medium"/>
                <a:ea typeface="DejaVu Sans"/>
              </a:rPr>
              <a:t>Importación de Archivo Plano enviado por Haberes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spc="-1" dirty="0">
                <a:solidFill>
                  <a:srgbClr val="FFFFFF"/>
                </a:solidFill>
                <a:latin typeface="Alfabet Medium"/>
                <a:ea typeface="DejaVu Sans"/>
              </a:rPr>
              <a:t>Proceso de Reversión de importación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spc="-1" dirty="0">
                <a:solidFill>
                  <a:srgbClr val="FFFFFF"/>
                </a:solidFill>
                <a:latin typeface="Alfabet Medium"/>
                <a:ea typeface="DejaVu Sans"/>
              </a:rPr>
              <a:t>Procesamiento de archivo importado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1400" spc="-1" dirty="0">
                <a:solidFill>
                  <a:srgbClr val="FFFFFF"/>
                </a:solidFill>
                <a:latin typeface="Alfabet Medium"/>
                <a:ea typeface="DejaVu Sans"/>
              </a:rPr>
              <a:t>Consolidación de Mecanizada y POF</a:t>
            </a:r>
          </a:p>
          <a:p>
            <a:pPr>
              <a:lnSpc>
                <a:spcPct val="100000"/>
              </a:lnSpc>
            </a:pPr>
            <a:endParaRPr lang="es-ES" sz="16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3563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5913</TotalTime>
  <Words>784</Words>
  <Application>Microsoft Office PowerPoint</Application>
  <PresentationFormat>Presentación en pantalla (4:3)</PresentationFormat>
  <Paragraphs>140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6" baseType="lpstr">
      <vt:lpstr>Alfabet ExtraBold</vt:lpstr>
      <vt:lpstr>Alfabet Medium</vt:lpstr>
      <vt:lpstr>Arial</vt:lpstr>
      <vt:lpstr>Courier New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124</cp:revision>
  <dcterms:created xsi:type="dcterms:W3CDTF">2024-04-17T14:44:25Z</dcterms:created>
  <dcterms:modified xsi:type="dcterms:W3CDTF">2025-05-08T14:05:56Z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