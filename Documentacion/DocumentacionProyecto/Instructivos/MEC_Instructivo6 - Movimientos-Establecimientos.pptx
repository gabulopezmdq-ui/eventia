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8"/>
  </p:notesMasterIdLst>
  <p:sldIdLst>
    <p:sldId id="256" r:id="rId3"/>
    <p:sldId id="295" r:id="rId4"/>
    <p:sldId id="326" r:id="rId5"/>
    <p:sldId id="327" r:id="rId6"/>
    <p:sldId id="257" r:id="rId7"/>
    <p:sldId id="291" r:id="rId8"/>
    <p:sldId id="307" r:id="rId9"/>
    <p:sldId id="336" r:id="rId10"/>
    <p:sldId id="335" r:id="rId11"/>
    <p:sldId id="339" r:id="rId12"/>
    <p:sldId id="344" r:id="rId13"/>
    <p:sldId id="308" r:id="rId14"/>
    <p:sldId id="309" r:id="rId15"/>
    <p:sldId id="328" r:id="rId16"/>
    <p:sldId id="331" r:id="rId17"/>
    <p:sldId id="346" r:id="rId18"/>
    <p:sldId id="329" r:id="rId19"/>
    <p:sldId id="340" r:id="rId20"/>
    <p:sldId id="345" r:id="rId21"/>
    <p:sldId id="342" r:id="rId22"/>
    <p:sldId id="343" r:id="rId23"/>
    <p:sldId id="332" r:id="rId24"/>
    <p:sldId id="347" r:id="rId25"/>
    <p:sldId id="348" r:id="rId26"/>
    <p:sldId id="333" r:id="rId2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1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2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9397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3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7608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4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472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2018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157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8603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8835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7278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2603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6822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441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4760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3205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4959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6270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8140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87068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5004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79909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39908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 dirty="0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11281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 dirty="0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55392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 dirty="0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69571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9096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2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jpe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2.jpe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2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Instructivo 6 – Gestión de Movimientos: </a:t>
            </a:r>
          </a:p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Perfil Establecimiento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185480" y="482760"/>
            <a:ext cx="795816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MX" sz="25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2 – Gestión de Movimientos </a:t>
            </a:r>
            <a:endParaRPr lang="es-AR" sz="2500" spc="-1" dirty="0">
              <a:solidFill>
                <a:prstClr val="black"/>
              </a:solidFill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2" name="Grupo 1"/>
          <p:cNvGrpSpPr/>
          <p:nvPr/>
        </p:nvGrpSpPr>
        <p:grpSpPr>
          <a:xfrm>
            <a:off x="577752" y="1412776"/>
            <a:ext cx="6656040" cy="398655"/>
            <a:chOff x="577752" y="1158137"/>
            <a:chExt cx="6656040" cy="398655"/>
          </a:xfrm>
        </p:grpSpPr>
        <p:pic>
          <p:nvPicPr>
            <p:cNvPr id="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Objetivo del módulo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sp>
        <p:nvSpPr>
          <p:cNvPr id="11" name="CuadroTexto 2"/>
          <p:cNvSpPr/>
          <p:nvPr/>
        </p:nvSpPr>
        <p:spPr>
          <a:xfrm>
            <a:off x="540000" y="1877342"/>
            <a:ext cx="8208464" cy="3630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Registrar y controlar</a:t>
            </a:r>
            <a:r>
              <a:rPr lang="es-ES" dirty="0">
                <a:solidFill>
                  <a:schemeClr val="bg1"/>
                </a:solidFill>
              </a:rPr>
              <a:t> de manera ordenada los movimientos de los docentes (altas, bajas y modificaciones).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Garantizar la trazabilidad</a:t>
            </a:r>
            <a:r>
              <a:rPr lang="es-ES" dirty="0">
                <a:solidFill>
                  <a:schemeClr val="bg1"/>
                </a:solidFill>
              </a:rPr>
              <a:t> de los cambios realizados en la nómina docente.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Optimizar la gestión administrativa</a:t>
            </a:r>
            <a:r>
              <a:rPr lang="es-ES" dirty="0">
                <a:solidFill>
                  <a:schemeClr val="bg1"/>
                </a:solidFill>
              </a:rPr>
              <a:t>, reduciendo errores y duplicaciones de información.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Facilitar la consulta rápida</a:t>
            </a:r>
            <a:r>
              <a:rPr lang="es-ES" dirty="0">
                <a:solidFill>
                  <a:schemeClr val="bg1"/>
                </a:solidFill>
              </a:rPr>
              <a:t> del historial de cada docente.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Asegurar la transparencia</a:t>
            </a:r>
            <a:r>
              <a:rPr lang="es-ES" dirty="0">
                <a:solidFill>
                  <a:schemeClr val="bg1"/>
                </a:solidFill>
              </a:rPr>
              <a:t> en los procesos de incorporación, desvinculación y actualización de datos.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Cumplir con normativas internas y externas</a:t>
            </a:r>
            <a:r>
              <a:rPr lang="es-ES" dirty="0">
                <a:solidFill>
                  <a:schemeClr val="bg1"/>
                </a:solidFill>
              </a:rPr>
              <a:t> relacionadas con la gestión del personal docente.</a:t>
            </a:r>
          </a:p>
        </p:txBody>
      </p:sp>
    </p:spTree>
    <p:extLst>
      <p:ext uri="{BB962C8B-B14F-4D97-AF65-F5344CB8AC3E}">
        <p14:creationId xmlns:p14="http://schemas.microsoft.com/office/powerpoint/2010/main" val="340471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185480" y="482760"/>
            <a:ext cx="795816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MX" sz="25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2 – Gestión de Movimientos </a:t>
            </a:r>
            <a:endParaRPr lang="es-AR" sz="2500" spc="-1" dirty="0">
              <a:solidFill>
                <a:prstClr val="black"/>
              </a:solidFill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2" name="Grupo 1"/>
          <p:cNvGrpSpPr/>
          <p:nvPr/>
        </p:nvGrpSpPr>
        <p:grpSpPr>
          <a:xfrm>
            <a:off x="577752" y="1268760"/>
            <a:ext cx="6656040" cy="398655"/>
            <a:chOff x="577752" y="1158137"/>
            <a:chExt cx="6656040" cy="398655"/>
          </a:xfrm>
        </p:grpSpPr>
        <p:pic>
          <p:nvPicPr>
            <p:cNvPr id="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Requisitos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sp>
        <p:nvSpPr>
          <p:cNvPr id="11" name="CuadroTexto 2"/>
          <p:cNvSpPr/>
          <p:nvPr/>
        </p:nvSpPr>
        <p:spPr>
          <a:xfrm>
            <a:off x="540000" y="1877342"/>
            <a:ext cx="8496496" cy="3938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Registro de altas</a:t>
            </a:r>
            <a:r>
              <a:rPr lang="es-ES" sz="1500" dirty="0">
                <a:solidFill>
                  <a:schemeClr val="bg1"/>
                </a:solidFill>
              </a:rPr>
              <a:t> con datos completos del docente (datos personales, </a:t>
            </a:r>
            <a:r>
              <a:rPr lang="es-ES" sz="1500" dirty="0" smtClean="0">
                <a:solidFill>
                  <a:schemeClr val="bg1"/>
                </a:solidFill>
              </a:rPr>
              <a:t>cargo, fecha </a:t>
            </a:r>
            <a:r>
              <a:rPr lang="es-ES" sz="1500" dirty="0">
                <a:solidFill>
                  <a:schemeClr val="bg1"/>
                </a:solidFill>
              </a:rPr>
              <a:t>de ingreso, etc.).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Gestión de bajas</a:t>
            </a:r>
            <a:r>
              <a:rPr lang="es-ES" sz="1500" dirty="0">
                <a:solidFill>
                  <a:schemeClr val="bg1"/>
                </a:solidFill>
              </a:rPr>
              <a:t> con motivo de desvinculación, fecha </a:t>
            </a:r>
            <a:r>
              <a:rPr lang="es-ES" sz="1500" dirty="0" smtClean="0">
                <a:solidFill>
                  <a:schemeClr val="bg1"/>
                </a:solidFill>
              </a:rPr>
              <a:t>efectiva, etc.</a:t>
            </a:r>
            <a:endParaRPr lang="es-ES" sz="15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Modificaciones</a:t>
            </a:r>
            <a:r>
              <a:rPr lang="es-ES" sz="1500" dirty="0">
                <a:solidFill>
                  <a:schemeClr val="bg1"/>
                </a:solidFill>
              </a:rPr>
              <a:t> en los </a:t>
            </a:r>
            <a:r>
              <a:rPr lang="es-ES" sz="1500" dirty="0" smtClean="0">
                <a:solidFill>
                  <a:schemeClr val="bg1"/>
                </a:solidFill>
              </a:rPr>
              <a:t>datos.</a:t>
            </a:r>
            <a:endParaRPr lang="es-ES" sz="15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Historial de movimientos</a:t>
            </a:r>
            <a:r>
              <a:rPr lang="es-ES" sz="1500" dirty="0">
                <a:solidFill>
                  <a:schemeClr val="bg1"/>
                </a:solidFill>
              </a:rPr>
              <a:t> accesible para auditoría y consultas.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Notificación interna</a:t>
            </a:r>
            <a:r>
              <a:rPr lang="es-ES" sz="1500" dirty="0">
                <a:solidFill>
                  <a:schemeClr val="bg1"/>
                </a:solidFill>
              </a:rPr>
              <a:t> a las áreas involucradas </a:t>
            </a:r>
            <a:r>
              <a:rPr lang="es-ES" sz="1500" dirty="0" smtClean="0">
                <a:solidFill>
                  <a:schemeClr val="bg1"/>
                </a:solidFill>
              </a:rPr>
              <a:t>(Secretaría de Educación, Establecimiento, Provincia).</a:t>
            </a:r>
            <a:endParaRPr lang="es-ES" sz="15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Interfaz amigable y clara</a:t>
            </a:r>
            <a:r>
              <a:rPr lang="es-ES" sz="1500" dirty="0">
                <a:solidFill>
                  <a:schemeClr val="bg1"/>
                </a:solidFill>
              </a:rPr>
              <a:t> para la carga y consulta de movimientos.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Seguridad y permisos de acceso</a:t>
            </a:r>
            <a:r>
              <a:rPr lang="es-ES" sz="1500" dirty="0">
                <a:solidFill>
                  <a:schemeClr val="bg1"/>
                </a:solidFill>
              </a:rPr>
              <a:t>, garantizando que </a:t>
            </a:r>
            <a:r>
              <a:rPr lang="es-ES" sz="1500" dirty="0" smtClean="0">
                <a:solidFill>
                  <a:schemeClr val="bg1"/>
                </a:solidFill>
              </a:rPr>
              <a:t>sólo </a:t>
            </a:r>
            <a:r>
              <a:rPr lang="es-ES" sz="1500" dirty="0">
                <a:solidFill>
                  <a:schemeClr val="bg1"/>
                </a:solidFill>
              </a:rPr>
              <a:t>personal autorizado pueda realizar cambios.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Reportes y listados</a:t>
            </a:r>
            <a:r>
              <a:rPr lang="es-ES" sz="1500" dirty="0">
                <a:solidFill>
                  <a:schemeClr val="bg1"/>
                </a:solidFill>
              </a:rPr>
              <a:t> de movimientos filtrados por </a:t>
            </a:r>
            <a:r>
              <a:rPr lang="es-ES" sz="1500" dirty="0" smtClean="0">
                <a:solidFill>
                  <a:schemeClr val="bg1"/>
                </a:solidFill>
              </a:rPr>
              <a:t>fechas desarrollados a la medida del formato exigido por Provincia.</a:t>
            </a:r>
            <a:endParaRPr lang="es-E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6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185480" y="482760"/>
            <a:ext cx="795816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MX" sz="25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2 – Gestión de Movimientos </a:t>
            </a:r>
            <a:endParaRPr lang="es-AR" sz="2500" spc="-1" dirty="0">
              <a:solidFill>
                <a:prstClr val="black"/>
              </a:solidFill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747842"/>
            <a:ext cx="8208464" cy="41843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Mayor eficiencia administrativa</a:t>
            </a:r>
            <a:r>
              <a:rPr lang="es-ES" dirty="0">
                <a:solidFill>
                  <a:schemeClr val="bg1"/>
                </a:solidFill>
              </a:rPr>
              <a:t>: reducción de tiempos en la carga y gestión de datos.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Disminución de errores</a:t>
            </a:r>
            <a:r>
              <a:rPr lang="es-ES" dirty="0">
                <a:solidFill>
                  <a:schemeClr val="bg1"/>
                </a:solidFill>
              </a:rPr>
              <a:t>: menor duplicación de información y más exactitud en los registros.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Transparencia en los procesos</a:t>
            </a:r>
            <a:r>
              <a:rPr lang="es-ES" dirty="0">
                <a:solidFill>
                  <a:schemeClr val="bg1"/>
                </a:solidFill>
              </a:rPr>
              <a:t>: todos los movimientos quedan documentados y auditables.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Acceso rápido a la información</a:t>
            </a:r>
            <a:r>
              <a:rPr lang="es-ES" dirty="0">
                <a:solidFill>
                  <a:schemeClr val="bg1"/>
                </a:solidFill>
              </a:rPr>
              <a:t>: consultas centralizadas sobre historial docente.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Mejor comunicación interna</a:t>
            </a:r>
            <a:r>
              <a:rPr lang="es-ES" dirty="0">
                <a:solidFill>
                  <a:schemeClr val="bg1"/>
                </a:solidFill>
              </a:rPr>
              <a:t>: las áreas involucradas (RRHH, Secretaría, Dirección) reciben la información en tiempo y forma.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 smtClean="0">
                <a:solidFill>
                  <a:schemeClr val="bg1"/>
                </a:solidFill>
              </a:rPr>
              <a:t>Cumplimiento </a:t>
            </a:r>
            <a:r>
              <a:rPr lang="es-ES" b="1" dirty="0">
                <a:solidFill>
                  <a:schemeClr val="bg1"/>
                </a:solidFill>
              </a:rPr>
              <a:t>normativo</a:t>
            </a:r>
            <a:r>
              <a:rPr lang="es-ES" dirty="0">
                <a:solidFill>
                  <a:schemeClr val="bg1"/>
                </a:solidFill>
              </a:rPr>
              <a:t>: garantiza </a:t>
            </a:r>
            <a:r>
              <a:rPr lang="es-ES" dirty="0" smtClean="0">
                <a:solidFill>
                  <a:schemeClr val="bg1"/>
                </a:solidFill>
              </a:rPr>
              <a:t>el cumplimiento de los formatos utilizados por Provincia</a:t>
            </a:r>
            <a:endParaRPr lang="es-ES" dirty="0">
              <a:solidFill>
                <a:schemeClr val="bg1"/>
              </a:solidFill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580256" y="1268760"/>
            <a:ext cx="6656040" cy="398655"/>
            <a:chOff x="577752" y="1158137"/>
            <a:chExt cx="6656040" cy="398655"/>
          </a:xfrm>
        </p:grpSpPr>
        <p:pic>
          <p:nvPicPr>
            <p:cNvPr id="1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Beneficios esperados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002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Menú del Módulo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3" name="Flecha a la derecha con bandas 2"/>
          <p:cNvSpPr/>
          <p:nvPr/>
        </p:nvSpPr>
        <p:spPr>
          <a:xfrm>
            <a:off x="3707904" y="3068960"/>
            <a:ext cx="792088" cy="504056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32" y="1620982"/>
            <a:ext cx="2752381" cy="311428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032" y="1516226"/>
            <a:ext cx="2800000" cy="3609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3590859"/>
            <a:ext cx="9058930" cy="2214405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7704408" cy="952653"/>
            <a:chOff x="540000" y="482760"/>
            <a:chExt cx="6802560" cy="952653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Listado Cabeceras de Movimientos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8" name="CuadroTexto 2"/>
          <p:cNvSpPr/>
          <p:nvPr/>
        </p:nvSpPr>
        <p:spPr>
          <a:xfrm>
            <a:off x="6228184" y="3782973"/>
            <a:ext cx="1296144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Búsquedas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9" name="CuadroTexto 2"/>
          <p:cNvSpPr/>
          <p:nvPr/>
        </p:nvSpPr>
        <p:spPr>
          <a:xfrm>
            <a:off x="1205086" y="3963901"/>
            <a:ext cx="3366914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Nueva Cabecera de Movimientos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20" name="CuadroTexto 2"/>
          <p:cNvSpPr/>
          <p:nvPr/>
        </p:nvSpPr>
        <p:spPr>
          <a:xfrm>
            <a:off x="4211960" y="5101995"/>
            <a:ext cx="1573201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Área Listado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79" y="3951523"/>
            <a:ext cx="412774" cy="412774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6" y="1677603"/>
            <a:ext cx="9144000" cy="1391357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517713" y="4061150"/>
            <a:ext cx="393500" cy="393500"/>
          </a:xfrm>
          <a:prstGeom prst="rect">
            <a:avLst/>
          </a:prstGeom>
        </p:spPr>
      </p:pic>
      <p:sp>
        <p:nvSpPr>
          <p:cNvPr id="22" name="Rectángulo 21"/>
          <p:cNvSpPr/>
          <p:nvPr/>
        </p:nvSpPr>
        <p:spPr>
          <a:xfrm>
            <a:off x="179512" y="1341929"/>
            <a:ext cx="8712968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100" spc="-1" dirty="0" smtClean="0">
                <a:solidFill>
                  <a:srgbClr val="FFFFFF"/>
                </a:solidFill>
                <a:latin typeface="Alfabet Medium"/>
              </a:rPr>
              <a:t>La primera vez que ingresa un usuario de un Establecimiento verá el listado sin movimientos y sólo podrá dar de alta una nueva Cabecera de Movimientos</a:t>
            </a:r>
            <a:endParaRPr lang="es-ES" sz="1100" spc="-1" dirty="0">
              <a:solidFill>
                <a:srgbClr val="FFFFFF"/>
              </a:solidFill>
              <a:latin typeface="Alfabet Medium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179512" y="3214137"/>
            <a:ext cx="8712968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100" spc="-1" dirty="0" smtClean="0">
                <a:solidFill>
                  <a:srgbClr val="FFFFFF"/>
                </a:solidFill>
                <a:latin typeface="Alfabet Medium"/>
              </a:rPr>
              <a:t>Las veces subsiguientes ya verá el listado de Cabeceras de Movimientos que haya dado de alta. Cada Establecimiento visualiza las cabeceras de su propia institución.</a:t>
            </a:r>
            <a:endParaRPr lang="es-ES" sz="11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7188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141 Imagen"/>
          <p:cNvPicPr/>
          <p:nvPr/>
        </p:nvPicPr>
        <p:blipFill>
          <a:blip r:embed="rId3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2893654"/>
            <a:ext cx="8269349" cy="2499680"/>
          </a:xfrm>
          <a:prstGeom prst="rect">
            <a:avLst/>
          </a:prstGeom>
        </p:spPr>
      </p:pic>
      <p:grpSp>
        <p:nvGrpSpPr>
          <p:cNvPr id="17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5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Cabeceras de Movimientos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32" y="1193692"/>
            <a:ext cx="2066667" cy="125714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740864" y="1488946"/>
            <a:ext cx="612068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El primer paso consiste en registrar </a:t>
            </a: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los periodos de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Movimientos de Altas, Bajas, Modificaciones y Adicionales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246191" flipH="1">
            <a:off x="1027850" y="2292391"/>
            <a:ext cx="1070196" cy="59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5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141 Imagen"/>
          <p:cNvPicPr/>
          <p:nvPr/>
        </p:nvPicPr>
        <p:blipFill>
          <a:blip r:embed="rId3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80" y="1464884"/>
            <a:ext cx="8603640" cy="260073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453" y="2507693"/>
            <a:ext cx="7571428" cy="2409524"/>
          </a:xfrm>
          <a:prstGeom prst="rect">
            <a:avLst/>
          </a:prstGeom>
        </p:spPr>
      </p:pic>
      <p:sp>
        <p:nvSpPr>
          <p:cNvPr id="2" name="Rectángulo redondeado 1"/>
          <p:cNvSpPr/>
          <p:nvPr/>
        </p:nvSpPr>
        <p:spPr>
          <a:xfrm>
            <a:off x="540000" y="1844057"/>
            <a:ext cx="4117430" cy="43281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611884">
            <a:off x="423774" y="2316772"/>
            <a:ext cx="963504" cy="532794"/>
          </a:xfrm>
          <a:prstGeom prst="rect">
            <a:avLst/>
          </a:prstGeom>
        </p:spPr>
      </p:pic>
      <p:grpSp>
        <p:nvGrpSpPr>
          <p:cNvPr id="14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5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7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Cabeceras de Movimientos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20" name="Rectángulo 19"/>
          <p:cNvSpPr/>
          <p:nvPr/>
        </p:nvSpPr>
        <p:spPr>
          <a:xfrm>
            <a:off x="2051720" y="5045918"/>
            <a:ext cx="612068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Las Áreas están predefinidas pero por defecto se muestra seleccionada “LIQUIDACIONES”.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9743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141 Imagen"/>
          <p:cNvPicPr/>
          <p:nvPr/>
        </p:nvPicPr>
        <p:blipFill>
          <a:blip r:embed="rId3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340768"/>
            <a:ext cx="8766900" cy="2650082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27" y="2822551"/>
            <a:ext cx="7571428" cy="1571429"/>
          </a:xfrm>
          <a:prstGeom prst="rect">
            <a:avLst/>
          </a:prstGeom>
        </p:spPr>
      </p:pic>
      <p:grpSp>
        <p:nvGrpSpPr>
          <p:cNvPr id="13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4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6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Cabeceras de Movimientos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16" name="Rectángulo redondeado 15"/>
          <p:cNvSpPr/>
          <p:nvPr/>
        </p:nvSpPr>
        <p:spPr>
          <a:xfrm>
            <a:off x="4572000" y="2132856"/>
            <a:ext cx="4248472" cy="43281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611884">
            <a:off x="4534403" y="2728652"/>
            <a:ext cx="963504" cy="532794"/>
          </a:xfrm>
          <a:prstGeom prst="rect">
            <a:avLst/>
          </a:prstGeom>
        </p:spPr>
      </p:pic>
      <p:sp>
        <p:nvSpPr>
          <p:cNvPr id="21" name="Rectángulo 20"/>
          <p:cNvSpPr/>
          <p:nvPr/>
        </p:nvSpPr>
        <p:spPr>
          <a:xfrm>
            <a:off x="1763688" y="4649330"/>
            <a:ext cx="6552728" cy="10772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Sólo aparecerá disponible el Establecimiento que tiene asociado el usuario en la sección Seguridad / Usuarios por Establecimiento (cuyos permisos están restringidos al administrador de la aplicación)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3509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141 Imagen"/>
          <p:cNvPicPr/>
          <p:nvPr/>
        </p:nvPicPr>
        <p:blipFill>
          <a:blip r:embed="rId3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9" y="1340769"/>
            <a:ext cx="8983685" cy="2715612"/>
          </a:xfrm>
          <a:prstGeom prst="rect">
            <a:avLst/>
          </a:prstGeom>
        </p:spPr>
      </p:pic>
      <p:grpSp>
        <p:nvGrpSpPr>
          <p:cNvPr id="13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4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5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Cabeceras de Movimientos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20" name="Rectángulo redondeado 19"/>
          <p:cNvSpPr/>
          <p:nvPr/>
        </p:nvSpPr>
        <p:spPr>
          <a:xfrm>
            <a:off x="323527" y="2533463"/>
            <a:ext cx="4098049" cy="40886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0077" y="3024842"/>
            <a:ext cx="4980029" cy="1059044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43245" flipH="1">
            <a:off x="4090248" y="2779072"/>
            <a:ext cx="963504" cy="532794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2782651" y="4277910"/>
            <a:ext cx="5234880" cy="10772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Las acciones que se marquen aquí habilitarán a cargar movimientos sólo de esos tipos. Es decir, si se marca Altas y Bajas, el usuario no podrá cargar Modificaciones o Adicionales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4527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141 Imagen"/>
          <p:cNvPicPr/>
          <p:nvPr/>
        </p:nvPicPr>
        <p:blipFill>
          <a:blip r:embed="rId3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9" y="1340769"/>
            <a:ext cx="8983685" cy="2715612"/>
          </a:xfrm>
          <a:prstGeom prst="rect">
            <a:avLst/>
          </a:prstGeom>
        </p:spPr>
      </p:pic>
      <p:grpSp>
        <p:nvGrpSpPr>
          <p:cNvPr id="13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4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5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Cabeceras de Movimientos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22" name="Rectángulo redondeado 21"/>
          <p:cNvSpPr/>
          <p:nvPr/>
        </p:nvSpPr>
        <p:spPr>
          <a:xfrm>
            <a:off x="319032" y="2948131"/>
            <a:ext cx="2591045" cy="408861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/>
          <p:cNvSpPr/>
          <p:nvPr/>
        </p:nvSpPr>
        <p:spPr>
          <a:xfrm>
            <a:off x="319032" y="4005064"/>
            <a:ext cx="310084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El estado inicial de las cabeceras en “Pendiente”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56755">
            <a:off x="-167168" y="3352622"/>
            <a:ext cx="963504" cy="53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9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0" y="1310561"/>
            <a:ext cx="8951066" cy="2105197"/>
          </a:xfrm>
          <a:prstGeom prst="rect">
            <a:avLst/>
          </a:prstGeom>
        </p:spPr>
      </p:pic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0" y="3721792"/>
            <a:ext cx="8951066" cy="1743017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99233" flipH="1">
            <a:off x="7959161" y="3789801"/>
            <a:ext cx="1433828" cy="792872"/>
          </a:xfrm>
          <a:prstGeom prst="rect">
            <a:avLst/>
          </a:prstGeom>
        </p:spPr>
      </p:pic>
      <p:grpSp>
        <p:nvGrpSpPr>
          <p:cNvPr id="15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6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7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Cabeceras de Movimientos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19" name="Rectángulo 18"/>
          <p:cNvSpPr/>
          <p:nvPr/>
        </p:nvSpPr>
        <p:spPr>
          <a:xfrm>
            <a:off x="1987047" y="3153277"/>
            <a:ext cx="612068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Al presionar el botón “</a:t>
            </a:r>
            <a:r>
              <a:rPr lang="es-ES" sz="1600" b="1" spc="-1" dirty="0" smtClean="0">
                <a:solidFill>
                  <a:srgbClr val="FFFFFF"/>
                </a:solidFill>
                <a:latin typeface="Alfabet Medium"/>
              </a:rPr>
              <a:t>Guardar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” los datos de la cabecera se inhabilitan y se muestra un botón “</a:t>
            </a:r>
            <a:r>
              <a:rPr lang="es-ES" sz="1600" b="1" spc="-1" dirty="0" smtClean="0">
                <a:solidFill>
                  <a:srgbClr val="FFFFFF"/>
                </a:solidFill>
                <a:latin typeface="Alfabet Medium"/>
              </a:rPr>
              <a:t>Nuevo Detalle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” para comenzar a cargar los movimientos propiamente dichos.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0887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 Movimiento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15" y="2158619"/>
            <a:ext cx="8294734" cy="315355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11" y="1282487"/>
            <a:ext cx="1361905" cy="67619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2606" y="1844824"/>
            <a:ext cx="2057143" cy="1523810"/>
          </a:xfrm>
          <a:prstGeom prst="rect">
            <a:avLst/>
          </a:prstGeom>
        </p:spPr>
      </p:pic>
      <p:sp>
        <p:nvSpPr>
          <p:cNvPr id="16" name="Rectángulo redondeado 15"/>
          <p:cNvSpPr/>
          <p:nvPr/>
        </p:nvSpPr>
        <p:spPr>
          <a:xfrm>
            <a:off x="775788" y="2328414"/>
            <a:ext cx="2591045" cy="408861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82437">
            <a:off x="2811647" y="2788838"/>
            <a:ext cx="963504" cy="532794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4355976" y="3507818"/>
            <a:ext cx="3465692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Sólo se visualizan los tipos de movimientos que se definieron en la Cabecera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0272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664" y="3306254"/>
            <a:ext cx="6227335" cy="2499010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 Movimiento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18" y="1168919"/>
            <a:ext cx="2057143" cy="152381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6665" y="1004525"/>
            <a:ext cx="6191840" cy="2213039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345918" y="2864962"/>
            <a:ext cx="2425882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De acuerdo al tipo de Movimiento seleccionado, se habilitan los campos correspondientes para la carga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  <p:sp>
        <p:nvSpPr>
          <p:cNvPr id="19" name="Rectángulo redondeado 18"/>
          <p:cNvSpPr/>
          <p:nvPr/>
        </p:nvSpPr>
        <p:spPr>
          <a:xfrm>
            <a:off x="2968497" y="1056241"/>
            <a:ext cx="2107559" cy="284528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ectángulo redondeado 19"/>
          <p:cNvSpPr/>
          <p:nvPr/>
        </p:nvSpPr>
        <p:spPr>
          <a:xfrm>
            <a:off x="2968497" y="3399954"/>
            <a:ext cx="2107559" cy="284528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796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 Movimiento - Baja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1556792"/>
            <a:ext cx="8964488" cy="3597420"/>
          </a:xfrm>
          <a:prstGeom prst="rect">
            <a:avLst/>
          </a:prstGeom>
        </p:spPr>
      </p:pic>
      <p:sp>
        <p:nvSpPr>
          <p:cNvPr id="10" name="Rectángulo redondeado 9"/>
          <p:cNvSpPr/>
          <p:nvPr/>
        </p:nvSpPr>
        <p:spPr>
          <a:xfrm>
            <a:off x="3851920" y="2132856"/>
            <a:ext cx="2520280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Esta sección se completa con los datos que solicita provincia y que formarán parte de la planilla a enviar</a:t>
            </a:r>
            <a:endParaRPr lang="es-AR" sz="1200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3845805" y="4467485"/>
            <a:ext cx="2526395" cy="6176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Esta sección se completa con los datos que se necesitarán para el cálculo de las devoluciones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63728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056240"/>
            <a:ext cx="8988227" cy="4829214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 Movimiento -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Modificación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0" name="Rectángulo redondeado 9"/>
          <p:cNvSpPr/>
          <p:nvPr/>
        </p:nvSpPr>
        <p:spPr>
          <a:xfrm>
            <a:off x="3851920" y="2132856"/>
            <a:ext cx="2520280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Esta sección se completa con los datos que solicita provincia y que formarán parte de la planilla a enviar</a:t>
            </a:r>
            <a:endParaRPr lang="es-AR" sz="1200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3635896" y="5273788"/>
            <a:ext cx="2526395" cy="6176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Esta sección se completa con los datos que se necesitarán para el cálculo de las devoluciones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324650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 Movimiento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1615003"/>
            <a:ext cx="8864701" cy="3168352"/>
          </a:xfrm>
          <a:prstGeom prst="rect">
            <a:avLst/>
          </a:prstGeom>
        </p:spPr>
      </p:pic>
      <p:sp>
        <p:nvSpPr>
          <p:cNvPr id="16" name="Rectángulo redondeado 15"/>
          <p:cNvSpPr/>
          <p:nvPr/>
        </p:nvSpPr>
        <p:spPr>
          <a:xfrm>
            <a:off x="323528" y="1720398"/>
            <a:ext cx="2940987" cy="408861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967553">
            <a:off x="2624702" y="2273831"/>
            <a:ext cx="1084642" cy="59978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2108" y="1971683"/>
            <a:ext cx="4220406" cy="2224984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822929" y="3924345"/>
            <a:ext cx="3465692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Tipos de Documento como los establece Provincia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248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 Movimiento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3" y="1271005"/>
            <a:ext cx="8835723" cy="3157995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246867" y="2008332"/>
            <a:ext cx="2940987" cy="408861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967553">
            <a:off x="756276" y="2524087"/>
            <a:ext cx="1084642" cy="599780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246866" y="4629013"/>
            <a:ext cx="6413366" cy="13234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Situaciones de Revista como las establece Provincia:</a:t>
            </a:r>
          </a:p>
          <a:p>
            <a:pPr marL="376238" lvl="1" indent="-28575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Docente Titular: 11</a:t>
            </a:r>
          </a:p>
          <a:p>
            <a:pPr marL="376238" lvl="1" indent="-28575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Docente Provisorio: P</a:t>
            </a:r>
          </a:p>
          <a:p>
            <a:pPr marL="376238" lvl="1" indent="-28575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Docente Suplente: 21</a:t>
            </a:r>
          </a:p>
          <a:p>
            <a:pPr marL="376238" lvl="1" indent="-28575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Docente Suplente de titular en licencia por maternidad: 31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9111" y="2242669"/>
            <a:ext cx="6165455" cy="218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9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 Movimiento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3" y="1271005"/>
            <a:ext cx="8835723" cy="315799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9874" y="1375410"/>
            <a:ext cx="2276190" cy="209523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5230" y="2873011"/>
            <a:ext cx="1809524" cy="1771429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4499993" y="2008332"/>
            <a:ext cx="1440160" cy="329483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6708" flipH="1">
            <a:off x="5238394" y="1484305"/>
            <a:ext cx="1084642" cy="599780"/>
          </a:xfrm>
          <a:prstGeom prst="rect">
            <a:avLst/>
          </a:prstGeom>
        </p:spPr>
      </p:pic>
      <p:sp>
        <p:nvSpPr>
          <p:cNvPr id="13" name="Rectángulo redondeado 12"/>
          <p:cNvSpPr/>
          <p:nvPr/>
        </p:nvSpPr>
        <p:spPr>
          <a:xfrm>
            <a:off x="4499992" y="2379437"/>
            <a:ext cx="1440160" cy="329483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916257" flipH="1" flipV="1">
            <a:off x="3590111" y="2491075"/>
            <a:ext cx="1084642" cy="599780"/>
          </a:xfrm>
          <a:prstGeom prst="rect">
            <a:avLst/>
          </a:prstGeom>
        </p:spPr>
      </p:pic>
      <p:sp>
        <p:nvSpPr>
          <p:cNvPr id="18" name="Rectángulo redondeado 17"/>
          <p:cNvSpPr/>
          <p:nvPr/>
        </p:nvSpPr>
        <p:spPr>
          <a:xfrm>
            <a:off x="251520" y="2308304"/>
            <a:ext cx="1440160" cy="329483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Rectángulo redondeado 18"/>
          <p:cNvSpPr/>
          <p:nvPr/>
        </p:nvSpPr>
        <p:spPr>
          <a:xfrm>
            <a:off x="574057" y="2561969"/>
            <a:ext cx="2037425" cy="6510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Completa la Ruralidad con lo configurado en Establecimientos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101282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 Movimiento - Alta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" y="1280717"/>
            <a:ext cx="8974277" cy="320751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0809" y="1762510"/>
            <a:ext cx="6721671" cy="145046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1265" y="4160329"/>
            <a:ext cx="6352381" cy="1104762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2267744" y="3224785"/>
            <a:ext cx="6514823" cy="620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 selecciona una opción de la lista de Observaciones predefinidas (fueron previamente cargadas en la sección Paramétricas  - Tipos de Movimientos). Se muestran filtradas por Tipo de Movimiento</a:t>
            </a:r>
            <a:endParaRPr lang="es-AR" sz="1200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172547" y="3212976"/>
            <a:ext cx="1879173" cy="372781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/>
          <p:cNvSpPr/>
          <p:nvPr/>
        </p:nvSpPr>
        <p:spPr>
          <a:xfrm>
            <a:off x="1682777" y="2984862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  <p:sp>
        <p:nvSpPr>
          <p:cNvPr id="17" name="Rectángulo redondeado 16"/>
          <p:cNvSpPr/>
          <p:nvPr/>
        </p:nvSpPr>
        <p:spPr>
          <a:xfrm>
            <a:off x="172546" y="3618810"/>
            <a:ext cx="1879173" cy="512531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lipse 17"/>
          <p:cNvSpPr/>
          <p:nvPr/>
        </p:nvSpPr>
        <p:spPr>
          <a:xfrm>
            <a:off x="1837475" y="4086171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s-AR" dirty="0"/>
          </a:p>
        </p:txBody>
      </p:sp>
      <p:sp>
        <p:nvSpPr>
          <p:cNvPr id="19" name="Rectángulo redondeado 18"/>
          <p:cNvSpPr/>
          <p:nvPr/>
        </p:nvSpPr>
        <p:spPr>
          <a:xfrm>
            <a:off x="862741" y="5072949"/>
            <a:ext cx="4501348" cy="50706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Posteriormente se debe reemplazar la parte de texto variable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142393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 Movimiento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36" y="1268760"/>
            <a:ext cx="8964128" cy="3227535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3563888" y="4259650"/>
            <a:ext cx="4501348" cy="89754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Una vez finalizada la carga de datos, se presiona el botón “Agregar Detalle” lo cual hará que se agregue un nuevo movimiento a la Cabecera en cuestión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145104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6" y="1628334"/>
            <a:ext cx="8964488" cy="3674920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Detalles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Movimientos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9" name="Rectángulo redondeado 8"/>
          <p:cNvSpPr/>
          <p:nvPr/>
        </p:nvSpPr>
        <p:spPr>
          <a:xfrm>
            <a:off x="179512" y="1809331"/>
            <a:ext cx="8856984" cy="1665680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/>
          <p:cNvSpPr/>
          <p:nvPr/>
        </p:nvSpPr>
        <p:spPr>
          <a:xfrm>
            <a:off x="4788024" y="2955459"/>
            <a:ext cx="1440160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Cabecera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179512" y="4098818"/>
            <a:ext cx="8856984" cy="1058373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 11"/>
          <p:cNvSpPr/>
          <p:nvPr/>
        </p:nvSpPr>
        <p:spPr>
          <a:xfrm>
            <a:off x="4812666" y="4298350"/>
            <a:ext cx="1440160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Detalle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93933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Detalles Movimientos - Ver </a:t>
              </a:r>
              <a:r>
                <a:rPr lang="es-MX" sz="2800" spc="-1" dirty="0" err="1" smtClean="0">
                  <a:solidFill>
                    <a:srgbClr val="FFFFFF"/>
                  </a:solidFill>
                  <a:latin typeface="Alfabet ExtraBold"/>
                </a:rPr>
                <a:t>Info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" y="1480878"/>
            <a:ext cx="8964488" cy="166009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363" y="2708920"/>
            <a:ext cx="3936563" cy="3367246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7740352" y="2708921"/>
            <a:ext cx="504056" cy="28803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916257" flipH="1" flipV="1">
            <a:off x="6712942" y="2833948"/>
            <a:ext cx="1084642" cy="59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0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Detalles Movimientos - Eliminar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" y="1480878"/>
            <a:ext cx="8964488" cy="1660090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8172400" y="2708921"/>
            <a:ext cx="648072" cy="28803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/>
          <p:cNvSpPr/>
          <p:nvPr/>
        </p:nvSpPr>
        <p:spPr>
          <a:xfrm>
            <a:off x="1979712" y="3284984"/>
            <a:ext cx="6120680" cy="10772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Será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posible Agregar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Eliminar un movimiento en caso de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que no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correspondiera,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o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en caso de que tuviera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errores de carga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. Es decir, es posible Eliminar el movimiento y volver a ingresarlo.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376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941884"/>
            <a:ext cx="7050408" cy="2223420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8531632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 Movimiento - Enviar a Educación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96" y="1340769"/>
            <a:ext cx="9036136" cy="188682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428" y="2981381"/>
            <a:ext cx="6257143" cy="895238"/>
          </a:xfrm>
          <a:prstGeom prst="rect">
            <a:avLst/>
          </a:prstGeom>
        </p:spPr>
      </p:pic>
      <p:sp>
        <p:nvSpPr>
          <p:cNvPr id="10" name="Rectángulo redondeado 9"/>
          <p:cNvSpPr/>
          <p:nvPr/>
        </p:nvSpPr>
        <p:spPr>
          <a:xfrm>
            <a:off x="6958743" y="2873883"/>
            <a:ext cx="2012710" cy="9418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Una vez finalizada la carga de Movimientos, se envía a Educación</a:t>
            </a:r>
            <a:endParaRPr lang="es-AR" sz="1200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7740352" y="2449849"/>
            <a:ext cx="727045" cy="33108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lipse 11"/>
          <p:cNvSpPr/>
          <p:nvPr/>
        </p:nvSpPr>
        <p:spPr>
          <a:xfrm>
            <a:off x="8413034" y="2174203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  <p:sp>
        <p:nvSpPr>
          <p:cNvPr id="14" name="Elipse 13"/>
          <p:cNvSpPr/>
          <p:nvPr/>
        </p:nvSpPr>
        <p:spPr>
          <a:xfrm>
            <a:off x="6156176" y="5331849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s-AR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1661544" y="5643986"/>
            <a:ext cx="4501348" cy="70304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Cambia el Estado de la cabecera y no es posible seguir agregando o editando </a:t>
            </a:r>
            <a:r>
              <a:rPr lang="es-ES" sz="1200" dirty="0" smtClean="0"/>
              <a:t>registros y se visualiza el botón “</a:t>
            </a:r>
            <a:r>
              <a:rPr lang="es-ES" sz="1200" dirty="0" err="1" smtClean="0"/>
              <a:t>Info</a:t>
            </a:r>
            <a:r>
              <a:rPr lang="es-ES" sz="1200" dirty="0" smtClean="0"/>
              <a:t> Bajas” para imprimir el reporte de Bajas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205061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7825</TotalTime>
  <Words>914</Words>
  <Application>Microsoft Office PowerPoint</Application>
  <PresentationFormat>Presentación en pantalla (4:3)</PresentationFormat>
  <Paragraphs>110</Paragraphs>
  <Slides>25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5" baseType="lpstr">
      <vt:lpstr>Alfabet ExtraBold</vt:lpstr>
      <vt:lpstr>Alfabet Medium</vt:lpstr>
      <vt:lpstr>Arial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181</cp:revision>
  <dcterms:created xsi:type="dcterms:W3CDTF">2024-04-17T14:44:25Z</dcterms:created>
  <dcterms:modified xsi:type="dcterms:W3CDTF">2025-09-16T18:07:02Z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