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8"/>
  </p:notesMasterIdLst>
  <p:sldIdLst>
    <p:sldId id="256" r:id="rId3"/>
    <p:sldId id="295" r:id="rId4"/>
    <p:sldId id="291" r:id="rId5"/>
    <p:sldId id="326" r:id="rId6"/>
    <p:sldId id="327" r:id="rId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1C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es-AR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25E1D73A-C896-4F10-8A1F-42DA976BB268}" type="slidenum">
              <a:rPr lang="es-AR" sz="1400" b="0" strike="noStrike" spc="-1">
                <a:latin typeface="Times New Roman"/>
              </a:rPr>
              <a:pPr algn="r"/>
              <a:t>‹Nº›</a:t>
            </a:fld>
            <a:endParaRPr lang="es-A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87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9669A908-0F06-4E47-960C-06257B12840D}" type="slidenum">
              <a:rPr lang="es-AR" sz="1200" spc="-1">
                <a:solidFill>
                  <a:srgbClr val="000000"/>
                </a:solidFill>
              </a:rPr>
              <a:pPr algn="r"/>
              <a:t>2</a:t>
            </a:fld>
            <a:endParaRPr lang="es-AR" sz="1200" spc="-1">
              <a:solidFill>
                <a:prstClr val="black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9397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157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8154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4788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920" y="980728"/>
            <a:ext cx="7858496" cy="2088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Devolución de Subvenciones Docentes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121" name="120 Imagen"/>
          <p:cNvPicPr/>
          <p:nvPr/>
        </p:nvPicPr>
        <p:blipFill>
          <a:blip r:embed="rId2" cstate="print"/>
          <a:stretch/>
        </p:blipFill>
        <p:spPr>
          <a:xfrm>
            <a:off x="180000" y="5396400"/>
            <a:ext cx="8819640" cy="1443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 txBox="1">
            <a:spLocks/>
          </p:cNvSpPr>
          <p:nvPr/>
        </p:nvSpPr>
        <p:spPr>
          <a:xfrm>
            <a:off x="458552" y="3429000"/>
            <a:ext cx="8217904" cy="108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Instructivo </a:t>
            </a:r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3 </a:t>
            </a:r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– </a:t>
            </a:r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Antigüedades</a:t>
            </a:r>
            <a:endParaRPr lang="es-AR" sz="2800" kern="0" spc="-1" dirty="0">
              <a:solidFill>
                <a:sysClr val="windowText" lastClr="000000"/>
              </a:solidFill>
              <a:latin typeface="Arial"/>
            </a:endParaRPr>
          </a:p>
        </p:txBody>
      </p:sp>
      <p:cxnSp>
        <p:nvCxnSpPr>
          <p:cNvPr id="3" name="Conector recto 2"/>
          <p:cNvCxnSpPr/>
          <p:nvPr/>
        </p:nvCxnSpPr>
        <p:spPr>
          <a:xfrm flipH="1">
            <a:off x="2843808" y="4581128"/>
            <a:ext cx="5832648" cy="0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schemeClr val="bg2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185480" y="482760"/>
            <a:ext cx="795816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MX" sz="25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1 – </a:t>
            </a:r>
            <a:r>
              <a:rPr lang="es-MX" sz="25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Antigüedades</a:t>
            </a:r>
            <a:endParaRPr lang="es-AR" sz="2500" spc="-1" dirty="0">
              <a:solidFill>
                <a:prstClr val="black"/>
              </a:solidFill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3980090"/>
            <a:ext cx="8208464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42913"/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Antigüedad expresada en Años y Meses para cada docente en cada mecanizada</a:t>
            </a:r>
            <a:endParaRPr lang="es-AR" spc="-1" dirty="0">
              <a:solidFill>
                <a:srgbClr val="FFFFFF"/>
              </a:solidFill>
              <a:latin typeface="Alfabet Medium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577752" y="1412776"/>
            <a:ext cx="6656040" cy="398655"/>
            <a:chOff x="577752" y="1158137"/>
            <a:chExt cx="6656040" cy="398655"/>
          </a:xfrm>
        </p:grpSpPr>
        <p:pic>
          <p:nvPicPr>
            <p:cNvPr id="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Objetivo del módulo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  <p:sp>
        <p:nvSpPr>
          <p:cNvPr id="11" name="CuadroTexto 2"/>
          <p:cNvSpPr/>
          <p:nvPr/>
        </p:nvSpPr>
        <p:spPr>
          <a:xfrm>
            <a:off x="540000" y="1877342"/>
            <a:ext cx="8208464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1"/>
            <a:r>
              <a:rPr lang="es-ES" spc="-1" dirty="0">
                <a:solidFill>
                  <a:srgbClr val="FFFFFF"/>
                </a:solidFill>
                <a:latin typeface="Alfabet Medium"/>
              </a:rPr>
              <a:t>Implementar un módulo que permita registrar, administrar y consultar las antigüedades </a:t>
            </a: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de los agentes, a fines de realizar el cálculo automático en cada liquidación.</a:t>
            </a:r>
            <a:endParaRPr lang="es-ES" spc="-1" dirty="0">
              <a:solidFill>
                <a:srgbClr val="FFFFFF"/>
              </a:solidFill>
              <a:latin typeface="Alfabet Medium"/>
            </a:endParaRPr>
          </a:p>
        </p:txBody>
      </p:sp>
      <p:grpSp>
        <p:nvGrpSpPr>
          <p:cNvPr id="12" name="Grupo 11"/>
          <p:cNvGrpSpPr/>
          <p:nvPr/>
        </p:nvGrpSpPr>
        <p:grpSpPr>
          <a:xfrm>
            <a:off x="580256" y="3501008"/>
            <a:ext cx="6656040" cy="398655"/>
            <a:chOff x="577752" y="1158137"/>
            <a:chExt cx="6656040" cy="398655"/>
          </a:xfrm>
        </p:grpSpPr>
        <p:pic>
          <p:nvPicPr>
            <p:cNvPr id="1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Beneficios esperados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471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Carga de Antigüedad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3" name="Rectángulo redondeado 12"/>
          <p:cNvSpPr/>
          <p:nvPr/>
        </p:nvSpPr>
        <p:spPr>
          <a:xfrm>
            <a:off x="1045570" y="1328652"/>
            <a:ext cx="3670445" cy="6601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Tomar </a:t>
            </a:r>
            <a:r>
              <a:rPr lang="es-ES" sz="1200" dirty="0"/>
              <a:t>una Mecanizada como base para la carga de la antigüedad de cada docente de la planta funcional</a:t>
            </a:r>
            <a:endParaRPr lang="es-AR" sz="1200" dirty="0"/>
          </a:p>
        </p:txBody>
      </p:sp>
      <p:sp>
        <p:nvSpPr>
          <p:cNvPr id="14" name="Elipse 13"/>
          <p:cNvSpPr/>
          <p:nvPr/>
        </p:nvSpPr>
        <p:spPr>
          <a:xfrm>
            <a:off x="540000" y="1460883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1</a:t>
            </a:r>
            <a:endParaRPr lang="es-AR" dirty="0"/>
          </a:p>
        </p:txBody>
      </p:sp>
      <p:pic>
        <p:nvPicPr>
          <p:cNvPr id="15" name="Imagen 14"/>
          <p:cNvPicPr/>
          <p:nvPr/>
        </p:nvPicPr>
        <p:blipFill>
          <a:blip r:embed="rId5"/>
          <a:stretch>
            <a:fillRect/>
          </a:stretch>
        </p:blipFill>
        <p:spPr>
          <a:xfrm>
            <a:off x="125730" y="2271246"/>
            <a:ext cx="8892540" cy="274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8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/>
          <p:nvPr/>
        </p:nvPicPr>
        <p:blipFill>
          <a:blip r:embed="rId3"/>
          <a:stretch>
            <a:fillRect/>
          </a:stretch>
        </p:blipFill>
        <p:spPr>
          <a:xfrm>
            <a:off x="141364" y="1123015"/>
            <a:ext cx="2088232" cy="1585905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Carga de Antigüedad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3" name="Rectángulo redondeado 12"/>
          <p:cNvSpPr/>
          <p:nvPr/>
        </p:nvSpPr>
        <p:spPr>
          <a:xfrm>
            <a:off x="2483768" y="1196752"/>
            <a:ext cx="3670445" cy="6601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Seleccionar la opción Gestión de Personas dentro del menú POF</a:t>
            </a:r>
            <a:endParaRPr lang="es-AR" sz="1200" dirty="0"/>
          </a:p>
        </p:txBody>
      </p:sp>
      <p:sp>
        <p:nvSpPr>
          <p:cNvPr id="14" name="Elipse 13"/>
          <p:cNvSpPr/>
          <p:nvPr/>
        </p:nvSpPr>
        <p:spPr>
          <a:xfrm>
            <a:off x="1978198" y="1316867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s-AR" dirty="0"/>
          </a:p>
        </p:txBody>
      </p:sp>
      <p:pic>
        <p:nvPicPr>
          <p:cNvPr id="10" name="Imagen 9"/>
          <p:cNvPicPr/>
          <p:nvPr/>
        </p:nvPicPr>
        <p:blipFill>
          <a:blip r:embed="rId6"/>
          <a:stretch>
            <a:fillRect/>
          </a:stretch>
        </p:blipFill>
        <p:spPr>
          <a:xfrm>
            <a:off x="63014" y="3242455"/>
            <a:ext cx="9036136" cy="2684383"/>
          </a:xfrm>
          <a:prstGeom prst="rect">
            <a:avLst/>
          </a:prstGeom>
        </p:spPr>
      </p:pic>
      <p:sp>
        <p:nvSpPr>
          <p:cNvPr id="11" name="Rectángulo redondeado 10"/>
          <p:cNvSpPr/>
          <p:nvPr/>
        </p:nvSpPr>
        <p:spPr>
          <a:xfrm>
            <a:off x="3277370" y="2738399"/>
            <a:ext cx="3670445" cy="6601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Buscar el Docente y hacer clic en el botón “ANTIGÜEDAD”</a:t>
            </a:r>
            <a:endParaRPr lang="es-AR" sz="1200" dirty="0"/>
          </a:p>
        </p:txBody>
      </p:sp>
      <p:sp>
        <p:nvSpPr>
          <p:cNvPr id="12" name="Elipse 11"/>
          <p:cNvSpPr/>
          <p:nvPr/>
        </p:nvSpPr>
        <p:spPr>
          <a:xfrm>
            <a:off x="2771800" y="2858514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3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827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Carga de Antigüedad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5" name="Imagen 14"/>
          <p:cNvPicPr/>
          <p:nvPr/>
        </p:nvPicPr>
        <p:blipFill>
          <a:blip r:embed="rId5"/>
          <a:stretch>
            <a:fillRect/>
          </a:stretch>
        </p:blipFill>
        <p:spPr>
          <a:xfrm>
            <a:off x="82356" y="1556792"/>
            <a:ext cx="8882132" cy="3948340"/>
          </a:xfrm>
          <a:prstGeom prst="rect">
            <a:avLst/>
          </a:prstGeom>
        </p:spPr>
      </p:pic>
      <p:sp>
        <p:nvSpPr>
          <p:cNvPr id="16" name="Rectángulo redondeado 15"/>
          <p:cNvSpPr/>
          <p:nvPr/>
        </p:nvSpPr>
        <p:spPr>
          <a:xfrm>
            <a:off x="3995936" y="1832708"/>
            <a:ext cx="3670445" cy="6601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</a:t>
            </a:r>
            <a:r>
              <a:rPr lang="es-ES" sz="1200" dirty="0" smtClean="0"/>
              <a:t>ompletar </a:t>
            </a:r>
            <a:r>
              <a:rPr lang="es-ES" sz="1200" dirty="0"/>
              <a:t>los datos de base, para que el sistema luego haga los cálculos de antigüedad con cada mecanizada que se procese</a:t>
            </a:r>
            <a:endParaRPr lang="es-AR" sz="1200" dirty="0"/>
          </a:p>
        </p:txBody>
      </p:sp>
      <p:sp>
        <p:nvSpPr>
          <p:cNvPr id="17" name="Elipse 16"/>
          <p:cNvSpPr/>
          <p:nvPr/>
        </p:nvSpPr>
        <p:spPr>
          <a:xfrm>
            <a:off x="3490366" y="1952823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4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3138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5925</TotalTime>
  <Words>135</Words>
  <Application>Microsoft Office PowerPoint</Application>
  <PresentationFormat>Presentación en pantalla (4:3)</PresentationFormat>
  <Paragraphs>22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</vt:i4>
      </vt:variant>
    </vt:vector>
  </HeadingPairs>
  <TitlesOfParts>
    <vt:vector size="15" baseType="lpstr">
      <vt:lpstr>Alfabet ExtraBold</vt:lpstr>
      <vt:lpstr>Alfabet Medium</vt:lpstr>
      <vt:lpstr>Arial</vt:lpstr>
      <vt:lpstr>DejaVu Sans</vt:lpstr>
      <vt:lpstr>Roboto Medium</vt:lpstr>
      <vt:lpstr>Symbol</vt:lpstr>
      <vt:lpstr>Times New Roman</vt:lpstr>
      <vt:lpstr>Wingdings</vt:lpstr>
      <vt:lpstr>Office Theme</vt:lpstr>
      <vt:lpstr>Office Theme</vt:lpstr>
      <vt:lpstr>Devolución de Subvenciones Docentes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Pavoni Julian</dc:creator>
  <cp:lastModifiedBy>Lopez Gabriela</cp:lastModifiedBy>
  <cp:revision>128</cp:revision>
  <dcterms:created xsi:type="dcterms:W3CDTF">2024-04-17T14:44:25Z</dcterms:created>
  <dcterms:modified xsi:type="dcterms:W3CDTF">2025-04-25T16:11:33Z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24</vt:i4>
  </property>
</Properties>
</file>