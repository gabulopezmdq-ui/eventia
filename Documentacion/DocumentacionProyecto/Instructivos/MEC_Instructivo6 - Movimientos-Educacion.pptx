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86" r:id="rId2"/>
  </p:sldMasterIdLst>
  <p:notesMasterIdLst>
    <p:notesMasterId r:id="rId16"/>
  </p:notesMasterIdLst>
  <p:sldIdLst>
    <p:sldId id="256" r:id="rId3"/>
    <p:sldId id="295" r:id="rId4"/>
    <p:sldId id="326" r:id="rId5"/>
    <p:sldId id="327" r:id="rId6"/>
    <p:sldId id="349" r:id="rId7"/>
    <p:sldId id="352" r:id="rId8"/>
    <p:sldId id="257" r:id="rId9"/>
    <p:sldId id="291" r:id="rId10"/>
    <p:sldId id="351" r:id="rId11"/>
    <p:sldId id="307" r:id="rId12"/>
    <p:sldId id="348" r:id="rId13"/>
    <p:sldId id="346" r:id="rId14"/>
    <p:sldId id="347" r:id="rId15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4574"/>
    <a:srgbClr val="44546A"/>
    <a:srgbClr val="A61C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5" d="100"/>
          <a:sy n="125" d="100"/>
        </p:scale>
        <p:origin x="474" y="-2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s-AR" sz="4400" b="0" strike="noStrike" spc="-1">
                <a:latin typeface="Arial"/>
              </a:rPr>
              <a:t>Pulse para desplazar la diapositiva</a:t>
            </a:r>
          </a:p>
        </p:txBody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s-AR" sz="2000" b="0" strike="noStrike" spc="-1">
                <a:latin typeface="Arial"/>
              </a:rPr>
              <a:t>Pulse para editar el formato de las notas</a:t>
            </a:r>
          </a:p>
        </p:txBody>
      </p:sp>
      <p:sp>
        <p:nvSpPr>
          <p:cNvPr id="11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s-AR" sz="1400" b="0" strike="noStrike" spc="-1">
                <a:latin typeface="Times New Roman"/>
              </a:rPr>
              <a:t>&lt;cabecera&gt;</a:t>
            </a:r>
          </a:p>
        </p:txBody>
      </p:sp>
      <p:sp>
        <p:nvSpPr>
          <p:cNvPr id="117" name="PlaceHolder 4"/>
          <p:cNvSpPr>
            <a:spLocks noGrp="1"/>
          </p:cNvSpPr>
          <p:nvPr>
            <p:ph type="dt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r"/>
            <a:r>
              <a:rPr lang="es-AR" sz="1400" b="0" strike="noStrike" spc="-1">
                <a:latin typeface="Times New Roman"/>
              </a:rPr>
              <a:t>&lt;fecha/hora&gt;</a:t>
            </a:r>
          </a:p>
        </p:txBody>
      </p:sp>
      <p:sp>
        <p:nvSpPr>
          <p:cNvPr id="118" name="PlaceHolder 5"/>
          <p:cNvSpPr>
            <a:spLocks noGrp="1"/>
          </p:cNvSpPr>
          <p:nvPr>
            <p:ph type="ftr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r>
              <a:rPr lang="es-AR" sz="1400" b="0" strike="noStrike" spc="-1">
                <a:latin typeface="Times New Roman"/>
              </a:rPr>
              <a:t>&lt;pie de página&gt;</a:t>
            </a:r>
          </a:p>
        </p:txBody>
      </p:sp>
      <p:sp>
        <p:nvSpPr>
          <p:cNvPr id="119" name="PlaceHolder 6"/>
          <p:cNvSpPr>
            <a:spLocks noGrp="1"/>
          </p:cNvSpPr>
          <p:nvPr>
            <p:ph type="sldNum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/>
            <a:fld id="{25E1D73A-C896-4F10-8A1F-42DA976BB268}" type="slidenum">
              <a:rPr lang="es-AR" sz="1400" b="0" strike="noStrike" spc="-1">
                <a:latin typeface="Times New Roman"/>
              </a:rPr>
              <a:pPr algn="r"/>
              <a:t>‹Nº›</a:t>
            </a:fld>
            <a:endParaRPr lang="es-AR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248716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/>
            <a:fld id="{9669A908-0F06-4E47-960C-06257B12840D}" type="slidenum">
              <a:rPr lang="es-AR" sz="1200" spc="-1">
                <a:solidFill>
                  <a:srgbClr val="000000"/>
                </a:solidFill>
              </a:rPr>
              <a:pPr algn="r"/>
              <a:t>2</a:t>
            </a:fld>
            <a:endParaRPr lang="es-AR" sz="1200" spc="-1">
              <a:solidFill>
                <a:prstClr val="black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993970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/>
            <a:fld id="{9669A908-0F06-4E47-960C-06257B12840D}" type="slidenum">
              <a:rPr lang="es-AR" sz="1200" spc="-1">
                <a:solidFill>
                  <a:srgbClr val="000000"/>
                </a:solidFill>
              </a:rPr>
              <a:pPr algn="r"/>
              <a:t>3</a:t>
            </a:fld>
            <a:endParaRPr lang="es-AR" sz="1200" spc="-1">
              <a:solidFill>
                <a:prstClr val="black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676088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/>
            <a:fld id="{9669A908-0F06-4E47-960C-06257B12840D}" type="slidenum">
              <a:rPr lang="es-AR" sz="1200" spc="-1">
                <a:solidFill>
                  <a:srgbClr val="000000"/>
                </a:solidFill>
              </a:rPr>
              <a:pPr algn="r"/>
              <a:t>4</a:t>
            </a:fld>
            <a:endParaRPr lang="es-AR" sz="1200" spc="-1">
              <a:solidFill>
                <a:prstClr val="black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47246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5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211275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6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303016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7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920183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8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841571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9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048814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10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686031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11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794239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12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76281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13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23745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 smtClean="0"/>
              <a:t>Haga clic para modificar el estilo de título del patrón</a:t>
            </a:r>
            <a:endParaRPr lang="es-A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 smtClean="0"/>
              <a:t>Haga clic para modificar el estilo de subtítulo del patrón</a:t>
            </a:r>
            <a:endParaRPr lang="es-A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D5431-53B5-4D35-9FE8-D68895F22516}" type="datetimeFigureOut">
              <a:rPr lang="es-AR" smtClean="0"/>
              <a:t>7/10/2025</a:t>
            </a:fld>
            <a:endParaRPr lang="es-AR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B5510-15E7-4E0C-9BAE-7CDF35ABC9B6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9886329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A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D5431-53B5-4D35-9FE8-D68895F22516}" type="datetimeFigureOut">
              <a:rPr lang="es-AR" smtClean="0"/>
              <a:t>7/10/2025</a:t>
            </a:fld>
            <a:endParaRPr lang="es-AR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B5510-15E7-4E0C-9BAE-7CDF35ABC9B6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448508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 smtClean="0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D5431-53B5-4D35-9FE8-D68895F22516}" type="datetimeFigureOut">
              <a:rPr lang="es-AR" smtClean="0"/>
              <a:t>7/10/2025</a:t>
            </a:fld>
            <a:endParaRPr lang="es-AR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B5510-15E7-4E0C-9BAE-7CDF35ABC9B6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0673652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AR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AR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D5431-53B5-4D35-9FE8-D68895F22516}" type="datetimeFigureOut">
              <a:rPr lang="es-AR" smtClean="0"/>
              <a:t>7/10/2025</a:t>
            </a:fld>
            <a:endParaRPr lang="es-AR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B5510-15E7-4E0C-9BAE-7CDF35ABC9B6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8544385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AR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AR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D5431-53B5-4D35-9FE8-D68895F22516}" type="datetimeFigureOut">
              <a:rPr lang="es-AR" smtClean="0"/>
              <a:t>7/10/2025</a:t>
            </a:fld>
            <a:endParaRPr lang="es-AR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B5510-15E7-4E0C-9BAE-7CDF35ABC9B6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48761486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AR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D5431-53B5-4D35-9FE8-D68895F22516}" type="datetimeFigureOut">
              <a:rPr lang="es-AR" smtClean="0"/>
              <a:t>7/10/2025</a:t>
            </a:fld>
            <a:endParaRPr lang="es-AR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B5510-15E7-4E0C-9BAE-7CDF35ABC9B6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23689190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D5431-53B5-4D35-9FE8-D68895F22516}" type="datetimeFigureOut">
              <a:rPr lang="es-AR" smtClean="0"/>
              <a:t>7/10/2025</a:t>
            </a:fld>
            <a:endParaRPr lang="es-AR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B5510-15E7-4E0C-9BAE-7CDF35ABC9B6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08191848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 smtClean="0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AR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D5431-53B5-4D35-9FE8-D68895F22516}" type="datetimeFigureOut">
              <a:rPr lang="es-AR" smtClean="0"/>
              <a:t>7/10/2025</a:t>
            </a:fld>
            <a:endParaRPr lang="es-AR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B5510-15E7-4E0C-9BAE-7CDF35ABC9B6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76195960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 smtClean="0"/>
              <a:t>Haga clic para modificar el estilo de título del patrón</a:t>
            </a:r>
            <a:endParaRPr lang="es-AR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s-AR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D5431-53B5-4D35-9FE8-D68895F22516}" type="datetimeFigureOut">
              <a:rPr lang="es-AR" smtClean="0"/>
              <a:t>7/10/2025</a:t>
            </a:fld>
            <a:endParaRPr lang="es-AR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B5510-15E7-4E0C-9BAE-7CDF35ABC9B6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68459749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A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D5431-53B5-4D35-9FE8-D68895F22516}" type="datetimeFigureOut">
              <a:rPr lang="es-AR" smtClean="0"/>
              <a:t>7/10/2025</a:t>
            </a:fld>
            <a:endParaRPr lang="es-AR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B5510-15E7-4E0C-9BAE-7CDF35ABC9B6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74079629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A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D5431-53B5-4D35-9FE8-D68895F22516}" type="datetimeFigureOut">
              <a:rPr lang="es-AR" smtClean="0"/>
              <a:t>7/10/2025</a:t>
            </a:fld>
            <a:endParaRPr lang="es-AR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B5510-15E7-4E0C-9BAE-7CDF35ABC9B6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2526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s-AR" sz="4400" b="0" strike="noStrike" spc="-1">
                <a:latin typeface="Arial"/>
              </a:rPr>
              <a:t>Pulse para editar el formato del texto de título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3200" b="0" strike="noStrike" spc="-1">
                <a:latin typeface="Arial"/>
              </a:rPr>
              <a:t>Pulse para editar el formato de texto del esquema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800" b="0" strike="noStrike" spc="-1">
                <a:latin typeface="Arial"/>
              </a:rPr>
              <a:t>Segundo nivel del esquema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400" b="0" strike="noStrike" spc="-1">
                <a:latin typeface="Arial"/>
              </a:rPr>
              <a:t>Tercer nivel del esquema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000" b="0" strike="noStrike" spc="-1">
                <a:latin typeface="Arial"/>
              </a:rPr>
              <a:t>Cuarto nivel del esquema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strike="noStrike" spc="-1">
                <a:latin typeface="Arial"/>
              </a:rPr>
              <a:t>Quinto nivel del esquema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strike="noStrike" spc="-1">
                <a:latin typeface="Arial"/>
              </a:rPr>
              <a:t>Sexto nivel del esquema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strike="noStrike" spc="-1">
                <a:latin typeface="Arial"/>
              </a:rPr>
              <a:t>Séptimo nivel del esquema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/>
    <p:bodyStyle/>
    <p:otherStyle/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A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FD5431-53B5-4D35-9FE8-D68895F22516}" type="datetimeFigureOut">
              <a:rPr lang="es-AR" smtClean="0"/>
              <a:t>7/10/2025</a:t>
            </a:fld>
            <a:endParaRPr lang="es-AR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AR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BB5510-15E7-4E0C-9BAE-7CDF35ABC9B6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88123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AR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8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11.png"/><Relationship Id="rId5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2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4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2.jpeg"/><Relationship Id="rId5" Type="http://schemas.openxmlformats.org/officeDocument/2006/relationships/image" Target="../media/image3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8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19.png"/><Relationship Id="rId5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22.png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E6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457920" y="980728"/>
            <a:ext cx="7858496" cy="208823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s-AR" sz="4400" b="0" strike="noStrike" spc="-1" dirty="0" smtClean="0">
                <a:solidFill>
                  <a:srgbClr val="FFFFFF"/>
                </a:solidFill>
                <a:latin typeface="Alfabet ExtraBold"/>
              </a:rPr>
              <a:t>Devolución de Subvenciones Docentes</a:t>
            </a:r>
            <a:endParaRPr lang="es-AR" sz="4400" b="0" strike="noStrike" spc="-1" dirty="0">
              <a:latin typeface="Arial"/>
            </a:endParaRPr>
          </a:p>
        </p:txBody>
      </p:sp>
      <p:pic>
        <p:nvPicPr>
          <p:cNvPr id="121" name="120 Imagen"/>
          <p:cNvPicPr/>
          <p:nvPr/>
        </p:nvPicPr>
        <p:blipFill>
          <a:blip r:embed="rId2" cstate="print"/>
          <a:stretch/>
        </p:blipFill>
        <p:spPr>
          <a:xfrm>
            <a:off x="180000" y="5396400"/>
            <a:ext cx="8819640" cy="144324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1"/>
          <p:cNvSpPr txBox="1">
            <a:spLocks/>
          </p:cNvSpPr>
          <p:nvPr/>
        </p:nvSpPr>
        <p:spPr>
          <a:xfrm>
            <a:off x="458552" y="3429000"/>
            <a:ext cx="8217904" cy="108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/>
            <a:r>
              <a:rPr lang="es-AR" sz="2800" kern="0" spc="-1" dirty="0" smtClean="0">
                <a:solidFill>
                  <a:srgbClr val="FFFFFF"/>
                </a:solidFill>
                <a:latin typeface="Alfabet ExtraBold"/>
              </a:rPr>
              <a:t>Instructivo 6 – Gestión de Movimientos: </a:t>
            </a:r>
          </a:p>
          <a:p>
            <a:pPr algn="r"/>
            <a:r>
              <a:rPr lang="es-AR" sz="2800" kern="0" spc="-1" dirty="0" smtClean="0">
                <a:solidFill>
                  <a:srgbClr val="FFFFFF"/>
                </a:solidFill>
                <a:latin typeface="Alfabet ExtraBold"/>
              </a:rPr>
              <a:t>Perfil Educación</a:t>
            </a:r>
            <a:endParaRPr lang="es-AR" sz="2800" kern="0" spc="-1" dirty="0">
              <a:solidFill>
                <a:sysClr val="windowText" lastClr="000000"/>
              </a:solidFill>
              <a:latin typeface="Arial"/>
            </a:endParaRPr>
          </a:p>
        </p:txBody>
      </p:sp>
      <p:cxnSp>
        <p:nvCxnSpPr>
          <p:cNvPr id="3" name="Conector recto 2"/>
          <p:cNvCxnSpPr/>
          <p:nvPr/>
        </p:nvCxnSpPr>
        <p:spPr>
          <a:xfrm flipH="1">
            <a:off x="2843808" y="4581128"/>
            <a:ext cx="5832648" cy="0"/>
          </a:xfrm>
          <a:prstGeom prst="line">
            <a:avLst/>
          </a:prstGeom>
          <a:ln w="28575">
            <a:solidFill>
              <a:schemeClr val="bg1"/>
            </a:solidFill>
          </a:ln>
          <a:effectLst>
            <a:outerShdw blurRad="50800" dist="38100" dir="5400000" algn="t" rotWithShape="0">
              <a:schemeClr val="bg2">
                <a:alpha val="40000"/>
              </a:scheme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Picture 2" descr="C:\Users\jpavoni\Downloads\ELEMENTOS PARA WEB\ELEMENTOS PARA WEB\CAPA 2 nueva\PARTICIPACION CIUDADANA\BANNERS Y BOTONES-02.jpg"/>
          <p:cNvPicPr/>
          <p:nvPr/>
        </p:nvPicPr>
        <p:blipFill>
          <a:blip r:embed="rId3" cstate="print"/>
          <a:srcRect l="5396" t="37233" r="86991" b="50737"/>
          <a:stretch/>
        </p:blipFill>
        <p:spPr>
          <a:xfrm>
            <a:off x="540000" y="482760"/>
            <a:ext cx="645480" cy="573480"/>
          </a:xfrm>
          <a:prstGeom prst="rect">
            <a:avLst/>
          </a:prstGeom>
          <a:ln w="0">
            <a:noFill/>
          </a:ln>
        </p:spPr>
      </p:pic>
      <p:sp>
        <p:nvSpPr>
          <p:cNvPr id="124" name="13 Rectángulo"/>
          <p:cNvSpPr/>
          <p:nvPr/>
        </p:nvSpPr>
        <p:spPr>
          <a:xfrm>
            <a:off x="1185480" y="482760"/>
            <a:ext cx="7958160" cy="47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r>
              <a:rPr lang="es-MX" sz="2500" spc="-1" dirty="0" smtClean="0">
                <a:solidFill>
                  <a:srgbClr val="FFFFFF"/>
                </a:solidFill>
                <a:latin typeface="Alfabet ExtraBold"/>
                <a:ea typeface="Roboto Medium"/>
              </a:rPr>
              <a:t>Hito 2 – Gestión de Movimientos </a:t>
            </a:r>
            <a:endParaRPr lang="es-AR" sz="2500" spc="-1" dirty="0">
              <a:solidFill>
                <a:prstClr val="black"/>
              </a:solidFill>
            </a:endParaRPr>
          </a:p>
        </p:txBody>
      </p: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grpSp>
        <p:nvGrpSpPr>
          <p:cNvPr id="2" name="Grupo 1"/>
          <p:cNvGrpSpPr/>
          <p:nvPr/>
        </p:nvGrpSpPr>
        <p:grpSpPr>
          <a:xfrm>
            <a:off x="577752" y="1412776"/>
            <a:ext cx="6656040" cy="398655"/>
            <a:chOff x="577752" y="1158137"/>
            <a:chExt cx="6656040" cy="398655"/>
          </a:xfrm>
        </p:grpSpPr>
        <p:pic>
          <p:nvPicPr>
            <p:cNvPr id="8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77752" y="1171539"/>
              <a:ext cx="430608" cy="385253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9" name="13 Rectángulo"/>
            <p:cNvSpPr/>
            <p:nvPr/>
          </p:nvSpPr>
          <p:spPr>
            <a:xfrm>
              <a:off x="899592" y="1158137"/>
              <a:ext cx="6334200" cy="39865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r>
                <a:rPr lang="es-MX" sz="2000" spc="-1" dirty="0" smtClean="0">
                  <a:solidFill>
                    <a:srgbClr val="FFFFFF"/>
                  </a:solidFill>
                  <a:latin typeface="Alfabet ExtraBold"/>
                  <a:ea typeface="Roboto Medium"/>
                </a:rPr>
                <a:t>Objetivo del módulo</a:t>
              </a:r>
              <a:endParaRPr lang="es-AR" sz="2000" spc="-1" dirty="0">
                <a:solidFill>
                  <a:prstClr val="black"/>
                </a:solidFill>
              </a:endParaRPr>
            </a:p>
          </p:txBody>
        </p:sp>
      </p:grpSp>
      <p:sp>
        <p:nvSpPr>
          <p:cNvPr id="11" name="CuadroTexto 2"/>
          <p:cNvSpPr/>
          <p:nvPr/>
        </p:nvSpPr>
        <p:spPr>
          <a:xfrm>
            <a:off x="540000" y="1877342"/>
            <a:ext cx="8208464" cy="363030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bg1"/>
                </a:solidFill>
              </a:rPr>
              <a:t>Registrar y controlar</a:t>
            </a:r>
            <a:r>
              <a:rPr lang="es-ES" dirty="0">
                <a:solidFill>
                  <a:schemeClr val="bg1"/>
                </a:solidFill>
              </a:rPr>
              <a:t> de manera ordenada los movimientos de los docentes (altas, bajas y modificaciones).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bg1"/>
                </a:solidFill>
              </a:rPr>
              <a:t>Garantizar la trazabilidad</a:t>
            </a:r>
            <a:r>
              <a:rPr lang="es-ES" dirty="0">
                <a:solidFill>
                  <a:schemeClr val="bg1"/>
                </a:solidFill>
              </a:rPr>
              <a:t> de los cambios realizados en la nómina docente.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bg1"/>
                </a:solidFill>
              </a:rPr>
              <a:t>Optimizar la gestión administrativa</a:t>
            </a:r>
            <a:r>
              <a:rPr lang="es-ES" dirty="0">
                <a:solidFill>
                  <a:schemeClr val="bg1"/>
                </a:solidFill>
              </a:rPr>
              <a:t>, reduciendo errores y duplicaciones de información.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bg1"/>
                </a:solidFill>
              </a:rPr>
              <a:t>Facilitar la consulta rápida</a:t>
            </a:r>
            <a:r>
              <a:rPr lang="es-ES" dirty="0">
                <a:solidFill>
                  <a:schemeClr val="bg1"/>
                </a:solidFill>
              </a:rPr>
              <a:t> del historial de cada docente.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bg1"/>
                </a:solidFill>
              </a:rPr>
              <a:t>Asegurar la transparencia</a:t>
            </a:r>
            <a:r>
              <a:rPr lang="es-ES" dirty="0">
                <a:solidFill>
                  <a:schemeClr val="bg1"/>
                </a:solidFill>
              </a:rPr>
              <a:t> en los procesos de incorporación, desvinculación y actualización de datos.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bg1"/>
                </a:solidFill>
              </a:rPr>
              <a:t>Cumplir con normativas internas y externas</a:t>
            </a:r>
            <a:r>
              <a:rPr lang="es-ES" dirty="0">
                <a:solidFill>
                  <a:schemeClr val="bg1"/>
                </a:solidFill>
              </a:rPr>
              <a:t> relacionadas con la gestión del personal docente.</a:t>
            </a:r>
          </a:p>
        </p:txBody>
      </p:sp>
    </p:spTree>
    <p:extLst>
      <p:ext uri="{BB962C8B-B14F-4D97-AF65-F5344CB8AC3E}">
        <p14:creationId xmlns:p14="http://schemas.microsoft.com/office/powerpoint/2010/main" val="34047174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Picture 2" descr="C:\Users\jpavoni\Downloads\ELEMENTOS PARA WEB\ELEMENTOS PARA WEB\CAPA 2 nueva\PARTICIPACION CIUDADANA\BANNERS Y BOTONES-02.jpg"/>
          <p:cNvPicPr/>
          <p:nvPr/>
        </p:nvPicPr>
        <p:blipFill>
          <a:blip r:embed="rId3" cstate="print"/>
          <a:srcRect l="5396" t="37233" r="86991" b="50737"/>
          <a:stretch/>
        </p:blipFill>
        <p:spPr>
          <a:xfrm>
            <a:off x="540000" y="482760"/>
            <a:ext cx="645480" cy="573480"/>
          </a:xfrm>
          <a:prstGeom prst="rect">
            <a:avLst/>
          </a:prstGeom>
          <a:ln w="0">
            <a:noFill/>
          </a:ln>
        </p:spPr>
      </p:pic>
      <p:sp>
        <p:nvSpPr>
          <p:cNvPr id="124" name="13 Rectángulo"/>
          <p:cNvSpPr/>
          <p:nvPr/>
        </p:nvSpPr>
        <p:spPr>
          <a:xfrm>
            <a:off x="1185480" y="482760"/>
            <a:ext cx="7958160" cy="47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r>
              <a:rPr lang="es-MX" sz="2500" spc="-1" dirty="0" smtClean="0">
                <a:solidFill>
                  <a:srgbClr val="FFFFFF"/>
                </a:solidFill>
                <a:latin typeface="Alfabet ExtraBold"/>
                <a:ea typeface="Roboto Medium"/>
              </a:rPr>
              <a:t>Hito 2 – Gestión de Movimientos </a:t>
            </a:r>
            <a:endParaRPr lang="es-AR" sz="2500" spc="-1" dirty="0">
              <a:solidFill>
                <a:prstClr val="black"/>
              </a:solidFill>
            </a:endParaRPr>
          </a:p>
        </p:txBody>
      </p: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grpSp>
        <p:nvGrpSpPr>
          <p:cNvPr id="2" name="Grupo 1"/>
          <p:cNvGrpSpPr/>
          <p:nvPr/>
        </p:nvGrpSpPr>
        <p:grpSpPr>
          <a:xfrm>
            <a:off x="577752" y="1268760"/>
            <a:ext cx="6656040" cy="398655"/>
            <a:chOff x="577752" y="1158137"/>
            <a:chExt cx="6656040" cy="398655"/>
          </a:xfrm>
        </p:grpSpPr>
        <p:pic>
          <p:nvPicPr>
            <p:cNvPr id="8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77752" y="1171539"/>
              <a:ext cx="430608" cy="385253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9" name="13 Rectángulo"/>
            <p:cNvSpPr/>
            <p:nvPr/>
          </p:nvSpPr>
          <p:spPr>
            <a:xfrm>
              <a:off x="899592" y="1158137"/>
              <a:ext cx="6334200" cy="39865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r>
                <a:rPr lang="es-MX" sz="2000" spc="-1" dirty="0" smtClean="0">
                  <a:solidFill>
                    <a:srgbClr val="FFFFFF"/>
                  </a:solidFill>
                  <a:latin typeface="Alfabet ExtraBold"/>
                  <a:ea typeface="Roboto Medium"/>
                </a:rPr>
                <a:t>Requisitos</a:t>
              </a:r>
              <a:endParaRPr lang="es-AR" sz="2000" spc="-1" dirty="0">
                <a:solidFill>
                  <a:prstClr val="black"/>
                </a:solidFill>
              </a:endParaRPr>
            </a:p>
          </p:txBody>
        </p:sp>
      </p:grpSp>
      <p:sp>
        <p:nvSpPr>
          <p:cNvPr id="11" name="CuadroTexto 2"/>
          <p:cNvSpPr/>
          <p:nvPr/>
        </p:nvSpPr>
        <p:spPr>
          <a:xfrm>
            <a:off x="540000" y="1877342"/>
            <a:ext cx="8496496" cy="393808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500" b="1" dirty="0">
                <a:solidFill>
                  <a:schemeClr val="bg1"/>
                </a:solidFill>
              </a:rPr>
              <a:t>Registro de altas</a:t>
            </a:r>
            <a:r>
              <a:rPr lang="es-ES" sz="1500" dirty="0">
                <a:solidFill>
                  <a:schemeClr val="bg1"/>
                </a:solidFill>
              </a:rPr>
              <a:t> con datos completos del docente (datos personales, </a:t>
            </a:r>
            <a:r>
              <a:rPr lang="es-ES" sz="1500" dirty="0" smtClean="0">
                <a:solidFill>
                  <a:schemeClr val="bg1"/>
                </a:solidFill>
              </a:rPr>
              <a:t>cargo, fecha </a:t>
            </a:r>
            <a:r>
              <a:rPr lang="es-ES" sz="1500" dirty="0">
                <a:solidFill>
                  <a:schemeClr val="bg1"/>
                </a:solidFill>
              </a:rPr>
              <a:t>de ingreso, etc.).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500" b="1" dirty="0">
                <a:solidFill>
                  <a:schemeClr val="bg1"/>
                </a:solidFill>
              </a:rPr>
              <a:t>Gestión de bajas</a:t>
            </a:r>
            <a:r>
              <a:rPr lang="es-ES" sz="1500" dirty="0">
                <a:solidFill>
                  <a:schemeClr val="bg1"/>
                </a:solidFill>
              </a:rPr>
              <a:t> con motivo de desvinculación, fecha </a:t>
            </a:r>
            <a:r>
              <a:rPr lang="es-ES" sz="1500" dirty="0" smtClean="0">
                <a:solidFill>
                  <a:schemeClr val="bg1"/>
                </a:solidFill>
              </a:rPr>
              <a:t>efectiva, etc.</a:t>
            </a:r>
            <a:endParaRPr lang="es-ES" sz="1500" dirty="0">
              <a:solidFill>
                <a:schemeClr val="bg1"/>
              </a:solidFill>
            </a:endParaRP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500" b="1" dirty="0">
                <a:solidFill>
                  <a:schemeClr val="bg1"/>
                </a:solidFill>
              </a:rPr>
              <a:t>Modificaciones</a:t>
            </a:r>
            <a:r>
              <a:rPr lang="es-ES" sz="1500" dirty="0">
                <a:solidFill>
                  <a:schemeClr val="bg1"/>
                </a:solidFill>
              </a:rPr>
              <a:t> en los </a:t>
            </a:r>
            <a:r>
              <a:rPr lang="es-ES" sz="1500" dirty="0" smtClean="0">
                <a:solidFill>
                  <a:schemeClr val="bg1"/>
                </a:solidFill>
              </a:rPr>
              <a:t>datos.</a:t>
            </a:r>
            <a:endParaRPr lang="es-ES" sz="1500" dirty="0">
              <a:solidFill>
                <a:schemeClr val="bg1"/>
              </a:solidFill>
            </a:endParaRP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500" b="1" dirty="0">
                <a:solidFill>
                  <a:schemeClr val="bg1"/>
                </a:solidFill>
              </a:rPr>
              <a:t>Historial de movimientos</a:t>
            </a:r>
            <a:r>
              <a:rPr lang="es-ES" sz="1500" dirty="0">
                <a:solidFill>
                  <a:schemeClr val="bg1"/>
                </a:solidFill>
              </a:rPr>
              <a:t> accesible para auditoría y consultas.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500" b="1" dirty="0">
                <a:solidFill>
                  <a:schemeClr val="bg1"/>
                </a:solidFill>
              </a:rPr>
              <a:t>Notificación interna</a:t>
            </a:r>
            <a:r>
              <a:rPr lang="es-ES" sz="1500" dirty="0">
                <a:solidFill>
                  <a:schemeClr val="bg1"/>
                </a:solidFill>
              </a:rPr>
              <a:t> a las áreas involucradas </a:t>
            </a:r>
            <a:r>
              <a:rPr lang="es-ES" sz="1500" dirty="0" smtClean="0">
                <a:solidFill>
                  <a:schemeClr val="bg1"/>
                </a:solidFill>
              </a:rPr>
              <a:t>(Secretaría de Educación, Establecimiento, Provincia).</a:t>
            </a:r>
            <a:endParaRPr lang="es-ES" sz="1500" dirty="0">
              <a:solidFill>
                <a:schemeClr val="bg1"/>
              </a:solidFill>
            </a:endParaRP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500" b="1" dirty="0">
                <a:solidFill>
                  <a:schemeClr val="bg1"/>
                </a:solidFill>
              </a:rPr>
              <a:t>Interfaz amigable y clara</a:t>
            </a:r>
            <a:r>
              <a:rPr lang="es-ES" sz="1500" dirty="0">
                <a:solidFill>
                  <a:schemeClr val="bg1"/>
                </a:solidFill>
              </a:rPr>
              <a:t> para la carga y consulta de movimientos.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500" b="1" dirty="0">
                <a:solidFill>
                  <a:schemeClr val="bg1"/>
                </a:solidFill>
              </a:rPr>
              <a:t>Seguridad y permisos de acceso</a:t>
            </a:r>
            <a:r>
              <a:rPr lang="es-ES" sz="1500" dirty="0">
                <a:solidFill>
                  <a:schemeClr val="bg1"/>
                </a:solidFill>
              </a:rPr>
              <a:t>, garantizando que </a:t>
            </a:r>
            <a:r>
              <a:rPr lang="es-ES" sz="1500" dirty="0" smtClean="0">
                <a:solidFill>
                  <a:schemeClr val="bg1"/>
                </a:solidFill>
              </a:rPr>
              <a:t>sólo </a:t>
            </a:r>
            <a:r>
              <a:rPr lang="es-ES" sz="1500" dirty="0">
                <a:solidFill>
                  <a:schemeClr val="bg1"/>
                </a:solidFill>
              </a:rPr>
              <a:t>personal autorizado pueda realizar cambios.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500" b="1" dirty="0">
                <a:solidFill>
                  <a:schemeClr val="bg1"/>
                </a:solidFill>
              </a:rPr>
              <a:t>Reportes y listados</a:t>
            </a:r>
            <a:r>
              <a:rPr lang="es-ES" sz="1500" dirty="0">
                <a:solidFill>
                  <a:schemeClr val="bg1"/>
                </a:solidFill>
              </a:rPr>
              <a:t> de movimientos filtrados por </a:t>
            </a:r>
            <a:r>
              <a:rPr lang="es-ES" sz="1500" dirty="0" smtClean="0">
                <a:solidFill>
                  <a:schemeClr val="bg1"/>
                </a:solidFill>
              </a:rPr>
              <a:t>fechas desarrollados a la medida del formato exigido por Provincia.</a:t>
            </a:r>
            <a:endParaRPr lang="es-ES" sz="1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30684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Picture 2" descr="C:\Users\jpavoni\Downloads\ELEMENTOS PARA WEB\ELEMENTOS PARA WEB\CAPA 2 nueva\PARTICIPACION CIUDADANA\BANNERS Y BOTONES-02.jpg"/>
          <p:cNvPicPr/>
          <p:nvPr/>
        </p:nvPicPr>
        <p:blipFill>
          <a:blip r:embed="rId3" cstate="print"/>
          <a:srcRect l="5396" t="37233" r="86991" b="50737"/>
          <a:stretch/>
        </p:blipFill>
        <p:spPr>
          <a:xfrm>
            <a:off x="540000" y="482760"/>
            <a:ext cx="645480" cy="573480"/>
          </a:xfrm>
          <a:prstGeom prst="rect">
            <a:avLst/>
          </a:prstGeom>
          <a:ln w="0">
            <a:noFill/>
          </a:ln>
        </p:spPr>
      </p:pic>
      <p:sp>
        <p:nvSpPr>
          <p:cNvPr id="124" name="13 Rectángulo"/>
          <p:cNvSpPr/>
          <p:nvPr/>
        </p:nvSpPr>
        <p:spPr>
          <a:xfrm>
            <a:off x="1185480" y="482760"/>
            <a:ext cx="7958160" cy="47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r>
              <a:rPr lang="es-MX" sz="2500" spc="-1" dirty="0" smtClean="0">
                <a:solidFill>
                  <a:srgbClr val="FFFFFF"/>
                </a:solidFill>
                <a:latin typeface="Alfabet ExtraBold"/>
                <a:ea typeface="Roboto Medium"/>
              </a:rPr>
              <a:t>Hito 2 – Gestión de Movimientos </a:t>
            </a:r>
            <a:endParaRPr lang="es-AR" sz="2500" spc="-1" dirty="0">
              <a:solidFill>
                <a:prstClr val="black"/>
              </a:solidFill>
            </a:endParaRPr>
          </a:p>
        </p:txBody>
      </p: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23" name="CuadroTexto 2"/>
          <p:cNvSpPr/>
          <p:nvPr/>
        </p:nvSpPr>
        <p:spPr>
          <a:xfrm>
            <a:off x="540000" y="1747842"/>
            <a:ext cx="8208464" cy="418430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bg1"/>
                </a:solidFill>
              </a:rPr>
              <a:t>Mayor eficiencia administrativa</a:t>
            </a:r>
            <a:r>
              <a:rPr lang="es-ES" dirty="0">
                <a:solidFill>
                  <a:schemeClr val="bg1"/>
                </a:solidFill>
              </a:rPr>
              <a:t>: reducción de tiempos en la carga y gestión de datos.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bg1"/>
                </a:solidFill>
              </a:rPr>
              <a:t>Disminución de errores</a:t>
            </a:r>
            <a:r>
              <a:rPr lang="es-ES" dirty="0">
                <a:solidFill>
                  <a:schemeClr val="bg1"/>
                </a:solidFill>
              </a:rPr>
              <a:t>: menor duplicación de información y más exactitud en los registros.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bg1"/>
                </a:solidFill>
              </a:rPr>
              <a:t>Transparencia en los procesos</a:t>
            </a:r>
            <a:r>
              <a:rPr lang="es-ES" dirty="0">
                <a:solidFill>
                  <a:schemeClr val="bg1"/>
                </a:solidFill>
              </a:rPr>
              <a:t>: todos los movimientos quedan documentados y auditables.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bg1"/>
                </a:solidFill>
              </a:rPr>
              <a:t>Acceso rápido a la información</a:t>
            </a:r>
            <a:r>
              <a:rPr lang="es-ES" dirty="0">
                <a:solidFill>
                  <a:schemeClr val="bg1"/>
                </a:solidFill>
              </a:rPr>
              <a:t>: consultas centralizadas sobre historial docente.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bg1"/>
                </a:solidFill>
              </a:rPr>
              <a:t>Mejor comunicación interna</a:t>
            </a:r>
            <a:r>
              <a:rPr lang="es-ES" dirty="0">
                <a:solidFill>
                  <a:schemeClr val="bg1"/>
                </a:solidFill>
              </a:rPr>
              <a:t>: las áreas involucradas (RRHH, Secretaría, Dirección) reciben la información en tiempo y forma.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 smtClean="0">
                <a:solidFill>
                  <a:schemeClr val="bg1"/>
                </a:solidFill>
              </a:rPr>
              <a:t>Cumplimiento </a:t>
            </a:r>
            <a:r>
              <a:rPr lang="es-ES" b="1" dirty="0">
                <a:solidFill>
                  <a:schemeClr val="bg1"/>
                </a:solidFill>
              </a:rPr>
              <a:t>normativo</a:t>
            </a:r>
            <a:r>
              <a:rPr lang="es-ES" dirty="0">
                <a:solidFill>
                  <a:schemeClr val="bg1"/>
                </a:solidFill>
              </a:rPr>
              <a:t>: garantiza </a:t>
            </a:r>
            <a:r>
              <a:rPr lang="es-ES" dirty="0" smtClean="0">
                <a:solidFill>
                  <a:schemeClr val="bg1"/>
                </a:solidFill>
              </a:rPr>
              <a:t>el cumplimiento de los formatos utilizados por Provincia</a:t>
            </a:r>
            <a:endParaRPr lang="es-ES" dirty="0">
              <a:solidFill>
                <a:schemeClr val="bg1"/>
              </a:solidFill>
            </a:endParaRPr>
          </a:p>
        </p:txBody>
      </p:sp>
      <p:grpSp>
        <p:nvGrpSpPr>
          <p:cNvPr id="12" name="Grupo 11"/>
          <p:cNvGrpSpPr/>
          <p:nvPr/>
        </p:nvGrpSpPr>
        <p:grpSpPr>
          <a:xfrm>
            <a:off x="580256" y="1268760"/>
            <a:ext cx="6656040" cy="398655"/>
            <a:chOff x="577752" y="1158137"/>
            <a:chExt cx="6656040" cy="398655"/>
          </a:xfrm>
        </p:grpSpPr>
        <p:pic>
          <p:nvPicPr>
            <p:cNvPr id="1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77752" y="1171539"/>
              <a:ext cx="430608" cy="385253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4" name="13 Rectángulo"/>
            <p:cNvSpPr/>
            <p:nvPr/>
          </p:nvSpPr>
          <p:spPr>
            <a:xfrm>
              <a:off x="899592" y="1158137"/>
              <a:ext cx="6334200" cy="39865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r>
                <a:rPr lang="es-MX" sz="2000" spc="-1" dirty="0" smtClean="0">
                  <a:solidFill>
                    <a:srgbClr val="FFFFFF"/>
                  </a:solidFill>
                  <a:latin typeface="Alfabet ExtraBold"/>
                  <a:ea typeface="Roboto Medium"/>
                </a:rPr>
                <a:t>Beneficios esperados</a:t>
              </a:r>
              <a:endParaRPr lang="es-AR" sz="2000" spc="-1" dirty="0">
                <a:solidFill>
                  <a:prstClr val="black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600297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15 Grupo"/>
          <p:cNvGrpSpPr/>
          <p:nvPr/>
        </p:nvGrpSpPr>
        <p:grpSpPr>
          <a:xfrm>
            <a:off x="540000" y="482760"/>
            <a:ext cx="6802560" cy="573480"/>
            <a:chOff x="540000" y="482760"/>
            <a:chExt cx="6802560" cy="573480"/>
          </a:xfrm>
        </p:grpSpPr>
        <p:pic>
          <p:nvPicPr>
            <p:cNvPr id="12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b="0" strike="noStrike" spc="-1" dirty="0" smtClean="0">
                  <a:solidFill>
                    <a:srgbClr val="FFFFFF"/>
                  </a:solidFill>
                  <a:latin typeface="Alfabet ExtraBold"/>
                  <a:ea typeface="Roboto Medium"/>
                </a:rPr>
                <a:t>Menú del Módulo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3" name="Flecha a la derecha con bandas 2"/>
          <p:cNvSpPr/>
          <p:nvPr/>
        </p:nvSpPr>
        <p:spPr>
          <a:xfrm>
            <a:off x="3707904" y="3212976"/>
            <a:ext cx="792088" cy="504056"/>
          </a:xfrm>
          <a:prstGeom prst="strip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759" y="1093475"/>
            <a:ext cx="2230058" cy="4752331"/>
          </a:xfrm>
          <a:prstGeom prst="rect">
            <a:avLst/>
          </a:prstGeom>
        </p:spPr>
      </p:pic>
      <p:pic>
        <p:nvPicPr>
          <p:cNvPr id="2" name="Imagen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5699" y="1451103"/>
            <a:ext cx="2484613" cy="4138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637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89" y="1896256"/>
            <a:ext cx="9019315" cy="3044912"/>
          </a:xfrm>
          <a:prstGeom prst="rect">
            <a:avLst/>
          </a:prstGeom>
        </p:spPr>
      </p:pic>
      <p:grpSp>
        <p:nvGrpSpPr>
          <p:cNvPr id="122" name="15 Grupo"/>
          <p:cNvGrpSpPr/>
          <p:nvPr/>
        </p:nvGrpSpPr>
        <p:grpSpPr>
          <a:xfrm>
            <a:off x="540000" y="482760"/>
            <a:ext cx="7704408" cy="573480"/>
            <a:chOff x="540000" y="482760"/>
            <a:chExt cx="6802560" cy="573480"/>
          </a:xfrm>
        </p:grpSpPr>
        <p:pic>
          <p:nvPicPr>
            <p:cNvPr id="12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4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 smtClean="0">
                  <a:solidFill>
                    <a:srgbClr val="FFFFFF"/>
                  </a:solidFill>
                  <a:latin typeface="Alfabet ExtraBold"/>
                </a:rPr>
                <a:t>Listado </a:t>
              </a:r>
              <a:r>
                <a:rPr lang="es-MX" sz="2800" spc="-1" dirty="0" err="1" smtClean="0">
                  <a:solidFill>
                    <a:srgbClr val="FFFFFF"/>
                  </a:solidFill>
                  <a:latin typeface="Alfabet ExtraBold"/>
                </a:rPr>
                <a:t>SuperCabeceras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142" name="141 Imagen"/>
          <p:cNvPicPr/>
          <p:nvPr/>
        </p:nvPicPr>
        <p:blipFill>
          <a:blip r:embed="rId5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18" name="CuadroTexto 2"/>
          <p:cNvSpPr/>
          <p:nvPr/>
        </p:nvSpPr>
        <p:spPr>
          <a:xfrm>
            <a:off x="5580112" y="2320717"/>
            <a:ext cx="2133395" cy="460211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90000" tIns="45000" rIns="90000" bIns="45000" anchor="t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s-ES" sz="1200" dirty="0" smtClean="0"/>
              <a:t>Búsquedas por cualquiera de las columnas de la grilla</a:t>
            </a:r>
            <a:endParaRPr lang="es-AR" sz="1200" spc="-1" dirty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  <p:sp>
        <p:nvSpPr>
          <p:cNvPr id="19" name="CuadroTexto 2"/>
          <p:cNvSpPr/>
          <p:nvPr/>
        </p:nvSpPr>
        <p:spPr>
          <a:xfrm>
            <a:off x="1421110" y="2361258"/>
            <a:ext cx="3366914" cy="275545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90000" tIns="45000" rIns="90000" bIns="45000" anchor="t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s-ES" sz="1200" dirty="0" smtClean="0"/>
              <a:t>Nueva </a:t>
            </a:r>
            <a:r>
              <a:rPr lang="es-ES" sz="1200" dirty="0" err="1" smtClean="0"/>
              <a:t>SuperCabecera</a:t>
            </a:r>
            <a:endParaRPr lang="es-AR" sz="1200" spc="-1" dirty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  <p:sp>
        <p:nvSpPr>
          <p:cNvPr id="20" name="CuadroTexto 2"/>
          <p:cNvSpPr/>
          <p:nvPr/>
        </p:nvSpPr>
        <p:spPr>
          <a:xfrm>
            <a:off x="4211960" y="5101995"/>
            <a:ext cx="1573201" cy="337100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90000" tIns="45000" rIns="90000" bIns="45000" anchor="t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s-ES" sz="1600" dirty="0" smtClean="0"/>
              <a:t>Área Listado</a:t>
            </a:r>
            <a:endParaRPr lang="es-AR" sz="1600" spc="-1" dirty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  <p:pic>
        <p:nvPicPr>
          <p:cNvPr id="21" name="Imagen 2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703" y="2348880"/>
            <a:ext cx="412774" cy="412774"/>
          </a:xfrm>
          <a:prstGeom prst="rect">
            <a:avLst/>
          </a:prstGeom>
        </p:spPr>
      </p:pic>
      <p:pic>
        <p:nvPicPr>
          <p:cNvPr id="15" name="Imagen 1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7778900" y="2420889"/>
            <a:ext cx="393500" cy="393500"/>
          </a:xfrm>
          <a:prstGeom prst="rect">
            <a:avLst/>
          </a:prstGeom>
        </p:spPr>
      </p:pic>
      <p:sp>
        <p:nvSpPr>
          <p:cNvPr id="23" name="Rectángulo 22"/>
          <p:cNvSpPr/>
          <p:nvPr/>
        </p:nvSpPr>
        <p:spPr>
          <a:xfrm>
            <a:off x="300946" y="1303605"/>
            <a:ext cx="8712968" cy="43088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90488" lvl="1"/>
            <a:r>
              <a:rPr lang="es-ES" sz="1100" spc="-1" dirty="0" smtClean="0">
                <a:solidFill>
                  <a:srgbClr val="FFFFFF"/>
                </a:solidFill>
                <a:latin typeface="Alfabet Medium"/>
              </a:rPr>
              <a:t>El perfil </a:t>
            </a:r>
            <a:r>
              <a:rPr lang="es-ES" sz="1100" spc="-1" dirty="0" err="1" smtClean="0">
                <a:solidFill>
                  <a:srgbClr val="FFFFFF"/>
                </a:solidFill>
                <a:latin typeface="Alfabet Medium"/>
              </a:rPr>
              <a:t>Admin</a:t>
            </a:r>
            <a:r>
              <a:rPr lang="es-ES" sz="1100" spc="-1" dirty="0" smtClean="0">
                <a:solidFill>
                  <a:srgbClr val="FFFFFF"/>
                </a:solidFill>
                <a:latin typeface="Alfabet Medium"/>
              </a:rPr>
              <a:t> (Educación) tiene acceso a todas las Cabeceras de Movimientos ( y su detalle) dadas de alta por </a:t>
            </a:r>
            <a:r>
              <a:rPr lang="es-ES" sz="1100" spc="-1" smtClean="0">
                <a:solidFill>
                  <a:srgbClr val="FFFFFF"/>
                </a:solidFill>
                <a:latin typeface="Alfabet Medium"/>
              </a:rPr>
              <a:t>los Establecimientos.</a:t>
            </a:r>
            <a:endParaRPr lang="es-ES" sz="1100" spc="-1" dirty="0">
              <a:solidFill>
                <a:srgbClr val="FFFFFF"/>
              </a:solidFill>
              <a:latin typeface="Alfabet Medium"/>
            </a:endParaRPr>
          </a:p>
        </p:txBody>
      </p:sp>
    </p:spTree>
    <p:extLst>
      <p:ext uri="{BB962C8B-B14F-4D97-AF65-F5344CB8AC3E}">
        <p14:creationId xmlns:p14="http://schemas.microsoft.com/office/powerpoint/2010/main" val="9528388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15 Grupo"/>
          <p:cNvGrpSpPr/>
          <p:nvPr/>
        </p:nvGrpSpPr>
        <p:grpSpPr>
          <a:xfrm>
            <a:off x="540000" y="482760"/>
            <a:ext cx="6802560" cy="573480"/>
            <a:chOff x="540000" y="482760"/>
            <a:chExt cx="6802560" cy="573480"/>
          </a:xfrm>
        </p:grpSpPr>
        <p:pic>
          <p:nvPicPr>
            <p:cNvPr id="12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b="0" strike="noStrike" spc="-1" dirty="0" smtClean="0">
                  <a:solidFill>
                    <a:srgbClr val="FFFFFF"/>
                  </a:solidFill>
                  <a:latin typeface="Alfabet ExtraBold"/>
                  <a:ea typeface="Roboto Medium"/>
                </a:rPr>
                <a:t>Menú del Módulo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3" name="Flecha a la derecha con bandas 2"/>
          <p:cNvSpPr/>
          <p:nvPr/>
        </p:nvSpPr>
        <p:spPr>
          <a:xfrm>
            <a:off x="3707904" y="3212976"/>
            <a:ext cx="792088" cy="504056"/>
          </a:xfrm>
          <a:prstGeom prst="strip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759" y="1093475"/>
            <a:ext cx="2230058" cy="4752331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0032" y="1484784"/>
            <a:ext cx="2557412" cy="371987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8" y="1843373"/>
            <a:ext cx="9036496" cy="3209436"/>
          </a:xfrm>
          <a:prstGeom prst="rect">
            <a:avLst/>
          </a:prstGeom>
        </p:spPr>
      </p:pic>
      <p:grpSp>
        <p:nvGrpSpPr>
          <p:cNvPr id="122" name="15 Grupo"/>
          <p:cNvGrpSpPr/>
          <p:nvPr/>
        </p:nvGrpSpPr>
        <p:grpSpPr>
          <a:xfrm>
            <a:off x="540000" y="482760"/>
            <a:ext cx="7704408" cy="952653"/>
            <a:chOff x="540000" y="482760"/>
            <a:chExt cx="6802560" cy="952653"/>
          </a:xfrm>
        </p:grpSpPr>
        <p:pic>
          <p:nvPicPr>
            <p:cNvPr id="12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4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13 Rectángulo"/>
            <p:cNvSpPr/>
            <p:nvPr/>
          </p:nvSpPr>
          <p:spPr>
            <a:xfrm>
              <a:off x="1008360" y="482760"/>
              <a:ext cx="6334200" cy="95265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 smtClean="0">
                  <a:solidFill>
                    <a:srgbClr val="FFFFFF"/>
                  </a:solidFill>
                  <a:latin typeface="Alfabet ExtraBold"/>
                </a:rPr>
                <a:t>Listado Cabeceras de Movimientos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142" name="141 Imagen"/>
          <p:cNvPicPr/>
          <p:nvPr/>
        </p:nvPicPr>
        <p:blipFill>
          <a:blip r:embed="rId5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18" name="CuadroTexto 2"/>
          <p:cNvSpPr/>
          <p:nvPr/>
        </p:nvSpPr>
        <p:spPr>
          <a:xfrm>
            <a:off x="5580112" y="2320717"/>
            <a:ext cx="2133395" cy="460211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90000" tIns="45000" rIns="90000" bIns="45000" anchor="t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s-ES" sz="1200" dirty="0" smtClean="0"/>
              <a:t>Búsquedas por cualquiera de las columnas de la grilla</a:t>
            </a:r>
            <a:endParaRPr lang="es-AR" sz="1200" spc="-1" dirty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  <p:sp>
        <p:nvSpPr>
          <p:cNvPr id="19" name="CuadroTexto 2"/>
          <p:cNvSpPr/>
          <p:nvPr/>
        </p:nvSpPr>
        <p:spPr>
          <a:xfrm>
            <a:off x="1421110" y="2361258"/>
            <a:ext cx="3366914" cy="460211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90000" tIns="45000" rIns="90000" bIns="45000" anchor="t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s-ES" sz="1200" dirty="0" smtClean="0"/>
              <a:t>Nueva Cabecera de Movimientos (el perfil </a:t>
            </a:r>
            <a:r>
              <a:rPr lang="es-ES" sz="1200" dirty="0" err="1" smtClean="0"/>
              <a:t>Admin</a:t>
            </a:r>
            <a:r>
              <a:rPr lang="es-ES" sz="1200" dirty="0" smtClean="0"/>
              <a:t> también puede dar de alta Cabeceras)</a:t>
            </a:r>
            <a:endParaRPr lang="es-AR" sz="1200" spc="-1" dirty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  <p:sp>
        <p:nvSpPr>
          <p:cNvPr id="20" name="CuadroTexto 2"/>
          <p:cNvSpPr/>
          <p:nvPr/>
        </p:nvSpPr>
        <p:spPr>
          <a:xfrm>
            <a:off x="4211960" y="5101995"/>
            <a:ext cx="1573201" cy="337100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90000" tIns="45000" rIns="90000" bIns="45000" anchor="t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s-ES" sz="1600" dirty="0" smtClean="0"/>
              <a:t>Área Listado</a:t>
            </a:r>
            <a:endParaRPr lang="es-AR" sz="1600" spc="-1" dirty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  <p:pic>
        <p:nvPicPr>
          <p:cNvPr id="21" name="Imagen 2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703" y="2348880"/>
            <a:ext cx="412774" cy="412774"/>
          </a:xfrm>
          <a:prstGeom prst="rect">
            <a:avLst/>
          </a:prstGeom>
        </p:spPr>
      </p:pic>
      <p:pic>
        <p:nvPicPr>
          <p:cNvPr id="15" name="Imagen 1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7778900" y="2420889"/>
            <a:ext cx="393500" cy="393500"/>
          </a:xfrm>
          <a:prstGeom prst="rect">
            <a:avLst/>
          </a:prstGeom>
        </p:spPr>
      </p:pic>
      <p:sp>
        <p:nvSpPr>
          <p:cNvPr id="23" name="Rectángulo 22"/>
          <p:cNvSpPr/>
          <p:nvPr/>
        </p:nvSpPr>
        <p:spPr>
          <a:xfrm>
            <a:off x="300946" y="1303605"/>
            <a:ext cx="8712968" cy="43088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90488" lvl="1"/>
            <a:r>
              <a:rPr lang="es-ES" sz="1100" spc="-1" dirty="0" smtClean="0">
                <a:solidFill>
                  <a:srgbClr val="FFFFFF"/>
                </a:solidFill>
                <a:latin typeface="Alfabet Medium"/>
              </a:rPr>
              <a:t>El perfil </a:t>
            </a:r>
            <a:r>
              <a:rPr lang="es-ES" sz="1100" spc="-1" dirty="0" err="1" smtClean="0">
                <a:solidFill>
                  <a:srgbClr val="FFFFFF"/>
                </a:solidFill>
                <a:latin typeface="Alfabet Medium"/>
              </a:rPr>
              <a:t>Admin</a:t>
            </a:r>
            <a:r>
              <a:rPr lang="es-ES" sz="1100" spc="-1" dirty="0" smtClean="0">
                <a:solidFill>
                  <a:srgbClr val="FFFFFF"/>
                </a:solidFill>
                <a:latin typeface="Alfabet Medium"/>
              </a:rPr>
              <a:t> (Educación) tiene acceso a todas las Cabeceras de Movimientos ( y su detalle) dadas de alta por </a:t>
            </a:r>
            <a:r>
              <a:rPr lang="es-ES" sz="1100" spc="-1" smtClean="0">
                <a:solidFill>
                  <a:srgbClr val="FFFFFF"/>
                </a:solidFill>
                <a:latin typeface="Alfabet Medium"/>
              </a:rPr>
              <a:t>los Establecimientos.</a:t>
            </a:r>
            <a:endParaRPr lang="es-ES" sz="1100" spc="-1" dirty="0">
              <a:solidFill>
                <a:srgbClr val="FFFFFF"/>
              </a:solidFill>
              <a:latin typeface="Alfabet Medium"/>
            </a:endParaRPr>
          </a:p>
        </p:txBody>
      </p:sp>
    </p:spTree>
    <p:extLst>
      <p:ext uri="{BB962C8B-B14F-4D97-AF65-F5344CB8AC3E}">
        <p14:creationId xmlns:p14="http://schemas.microsoft.com/office/powerpoint/2010/main" val="71880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6512" y="2348880"/>
            <a:ext cx="6585129" cy="2195043"/>
          </a:xfrm>
          <a:prstGeom prst="rect">
            <a:avLst/>
          </a:prstGeom>
        </p:spPr>
      </p:pic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grpSp>
        <p:nvGrpSpPr>
          <p:cNvPr id="17" name="15 Grupo"/>
          <p:cNvGrpSpPr/>
          <p:nvPr/>
        </p:nvGrpSpPr>
        <p:grpSpPr>
          <a:xfrm>
            <a:off x="540000" y="482760"/>
            <a:ext cx="7704408" cy="573480"/>
            <a:chOff x="540000" y="482760"/>
            <a:chExt cx="6802560" cy="573480"/>
          </a:xfrm>
        </p:grpSpPr>
        <p:pic>
          <p:nvPicPr>
            <p:cNvPr id="18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5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9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 smtClean="0">
                  <a:solidFill>
                    <a:srgbClr val="FFFFFF"/>
                  </a:solidFill>
                  <a:latin typeface="Alfabet ExtraBold"/>
                </a:rPr>
                <a:t>Movimientos </a:t>
              </a:r>
              <a:r>
                <a:rPr lang="es-MX" sz="2800" spc="-1" dirty="0">
                  <a:solidFill>
                    <a:srgbClr val="FFFFFF"/>
                  </a:solidFill>
                  <a:latin typeface="Alfabet ExtraBold"/>
                </a:rPr>
                <a:t>-</a:t>
              </a:r>
              <a:r>
                <a:rPr lang="es-MX" sz="2800" spc="-1" dirty="0" smtClean="0">
                  <a:solidFill>
                    <a:srgbClr val="FFFFFF"/>
                  </a:solidFill>
                  <a:latin typeface="Alfabet ExtraBold"/>
                </a:rPr>
                <a:t> </a:t>
              </a:r>
              <a:r>
                <a:rPr lang="es-MX" sz="2800" spc="-1" smtClean="0">
                  <a:solidFill>
                    <a:srgbClr val="FFFFFF"/>
                  </a:solidFill>
                  <a:latin typeface="Alfabet ExtraBold"/>
                </a:rPr>
                <a:t>Agregar Cabecera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sp>
        <p:nvSpPr>
          <p:cNvPr id="5" name="Rectángulo 4"/>
          <p:cNvSpPr/>
          <p:nvPr/>
        </p:nvSpPr>
        <p:spPr>
          <a:xfrm>
            <a:off x="251520" y="1268760"/>
            <a:ext cx="6120680" cy="107721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90488" lvl="1"/>
            <a:r>
              <a:rPr lang="es-ES" sz="1600" spc="-1" dirty="0" smtClean="0">
                <a:solidFill>
                  <a:srgbClr val="FFFFFF"/>
                </a:solidFill>
                <a:latin typeface="Alfabet Medium"/>
              </a:rPr>
              <a:t>Al crear una nueva cabecera, se deberá seleccionar una </a:t>
            </a:r>
            <a:r>
              <a:rPr lang="es-ES" sz="1600" spc="-1" dirty="0" err="1" smtClean="0">
                <a:solidFill>
                  <a:srgbClr val="FFFFFF"/>
                </a:solidFill>
                <a:latin typeface="Alfabet Medium"/>
              </a:rPr>
              <a:t>SuperCabecera</a:t>
            </a:r>
            <a:r>
              <a:rPr lang="es-ES" sz="1600" spc="-1" dirty="0" smtClean="0">
                <a:solidFill>
                  <a:srgbClr val="FFFFFF"/>
                </a:solidFill>
                <a:latin typeface="Alfabet Medium"/>
              </a:rPr>
              <a:t> que completará los datos Área, Mes, Año y Establecimiento. Luego se selecciona el tipo de movimiento que hará la cabecera.</a:t>
            </a:r>
            <a:endParaRPr lang="es-ES" sz="1600" spc="-1" dirty="0">
              <a:solidFill>
                <a:srgbClr val="FFFFFF"/>
              </a:solidFill>
              <a:latin typeface="Alfabet Medium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7744" y="3876117"/>
            <a:ext cx="6807912" cy="2034695"/>
          </a:xfrm>
          <a:prstGeom prst="rect">
            <a:avLst/>
          </a:prstGeom>
        </p:spPr>
      </p:pic>
      <p:sp>
        <p:nvSpPr>
          <p:cNvPr id="10" name="Flecha doblada hacia arriba 9"/>
          <p:cNvSpPr/>
          <p:nvPr/>
        </p:nvSpPr>
        <p:spPr>
          <a:xfrm rot="5400000">
            <a:off x="1223852" y="3445373"/>
            <a:ext cx="1439712" cy="648072"/>
          </a:xfrm>
          <a:prstGeom prst="bent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380311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141 Imagen"/>
          <p:cNvPicPr/>
          <p:nvPr/>
        </p:nvPicPr>
        <p:blipFill>
          <a:blip r:embed="rId3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grpSp>
        <p:nvGrpSpPr>
          <p:cNvPr id="17" name="15 Grupo"/>
          <p:cNvGrpSpPr/>
          <p:nvPr/>
        </p:nvGrpSpPr>
        <p:grpSpPr>
          <a:xfrm>
            <a:off x="540000" y="482760"/>
            <a:ext cx="7704408" cy="573480"/>
            <a:chOff x="540000" y="482760"/>
            <a:chExt cx="6802560" cy="573480"/>
          </a:xfrm>
        </p:grpSpPr>
        <p:pic>
          <p:nvPicPr>
            <p:cNvPr id="18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4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9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 smtClean="0">
                  <a:solidFill>
                    <a:srgbClr val="FFFFFF"/>
                  </a:solidFill>
                  <a:latin typeface="Alfabet ExtraBold"/>
                </a:rPr>
                <a:t>Movimientos </a:t>
              </a:r>
              <a:r>
                <a:rPr lang="es-MX" sz="2800" spc="-1" dirty="0">
                  <a:solidFill>
                    <a:srgbClr val="FFFFFF"/>
                  </a:solidFill>
                  <a:latin typeface="Alfabet ExtraBold"/>
                </a:rPr>
                <a:t>-</a:t>
              </a:r>
              <a:r>
                <a:rPr lang="es-MX" sz="2800" spc="-1" dirty="0" smtClean="0">
                  <a:solidFill>
                    <a:srgbClr val="FFFFFF"/>
                  </a:solidFill>
                  <a:latin typeface="Alfabet ExtraBold"/>
                </a:rPr>
                <a:t> Agregar y Eliminar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7" name="Imagen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8" y="4145174"/>
            <a:ext cx="8964488" cy="1660090"/>
          </a:xfrm>
          <a:prstGeom prst="rect">
            <a:avLst/>
          </a:prstGeom>
        </p:spPr>
      </p:pic>
      <p:sp>
        <p:nvSpPr>
          <p:cNvPr id="8" name="Rectángulo redondeado 7"/>
          <p:cNvSpPr/>
          <p:nvPr/>
        </p:nvSpPr>
        <p:spPr>
          <a:xfrm>
            <a:off x="8172400" y="5301208"/>
            <a:ext cx="720080" cy="432048"/>
          </a:xfrm>
          <a:prstGeom prst="roundRect">
            <a:avLst/>
          </a:prstGeom>
          <a:noFill/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04" y="2204864"/>
            <a:ext cx="8928992" cy="1829523"/>
          </a:xfrm>
          <a:prstGeom prst="rect">
            <a:avLst/>
          </a:prstGeom>
        </p:spPr>
      </p:pic>
      <p:sp>
        <p:nvSpPr>
          <p:cNvPr id="5" name="Rectángulo 4"/>
          <p:cNvSpPr/>
          <p:nvPr/>
        </p:nvSpPr>
        <p:spPr>
          <a:xfrm>
            <a:off x="251520" y="1268760"/>
            <a:ext cx="6120680" cy="107721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90488" lvl="1"/>
            <a:r>
              <a:rPr lang="es-ES" sz="1600" spc="-1" dirty="0" smtClean="0">
                <a:solidFill>
                  <a:srgbClr val="FFFFFF"/>
                </a:solidFill>
                <a:latin typeface="Alfabet Medium"/>
              </a:rPr>
              <a:t>Desde el área de Educación será posible Agregar movimientos en caso de que faltaran, o Eliminar movimientos que no correspondieran, o Eliminar y Agregar movimientos que tuvieran errores de carga.</a:t>
            </a:r>
            <a:endParaRPr lang="es-ES" sz="1600" spc="-1" dirty="0">
              <a:solidFill>
                <a:srgbClr val="FFFFFF"/>
              </a:solidFill>
              <a:latin typeface="Alfabet Medium"/>
            </a:endParaRPr>
          </a:p>
        </p:txBody>
      </p:sp>
      <p:sp>
        <p:nvSpPr>
          <p:cNvPr id="11" name="Rectángulo redondeado 10"/>
          <p:cNvSpPr/>
          <p:nvPr/>
        </p:nvSpPr>
        <p:spPr>
          <a:xfrm>
            <a:off x="7956376" y="2420888"/>
            <a:ext cx="864096" cy="432048"/>
          </a:xfrm>
          <a:prstGeom prst="roundRect">
            <a:avLst/>
          </a:prstGeom>
          <a:noFill/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65675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736" y="1624086"/>
            <a:ext cx="8411770" cy="1588890"/>
          </a:xfrm>
          <a:prstGeom prst="rect">
            <a:avLst/>
          </a:prstGeom>
        </p:spPr>
      </p:pic>
      <p:pic>
        <p:nvPicPr>
          <p:cNvPr id="12" name="Imagen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520" y="4978138"/>
            <a:ext cx="6314280" cy="935594"/>
          </a:xfrm>
          <a:prstGeom prst="rect">
            <a:avLst/>
          </a:prstGeom>
        </p:spPr>
      </p:pic>
      <p:pic>
        <p:nvPicPr>
          <p:cNvPr id="142" name="141 Imagen"/>
          <p:cNvPicPr/>
          <p:nvPr/>
        </p:nvPicPr>
        <p:blipFill>
          <a:blip r:embed="rId5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grpSp>
        <p:nvGrpSpPr>
          <p:cNvPr id="17" name="15 Grupo"/>
          <p:cNvGrpSpPr/>
          <p:nvPr/>
        </p:nvGrpSpPr>
        <p:grpSpPr>
          <a:xfrm>
            <a:off x="540000" y="482760"/>
            <a:ext cx="7704408" cy="573480"/>
            <a:chOff x="540000" y="482760"/>
            <a:chExt cx="6802560" cy="573480"/>
          </a:xfrm>
          <a:solidFill>
            <a:srgbClr val="174574"/>
          </a:solidFill>
        </p:grpSpPr>
        <p:pic>
          <p:nvPicPr>
            <p:cNvPr id="18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6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grpFill/>
            <a:ln w="0">
              <a:noFill/>
            </a:ln>
          </p:spPr>
        </p:pic>
        <p:sp>
          <p:nvSpPr>
            <p:cNvPr id="19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grp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 smtClean="0">
                  <a:solidFill>
                    <a:srgbClr val="FFFFFF"/>
                  </a:solidFill>
                  <a:latin typeface="Alfabet ExtraBold"/>
                </a:rPr>
                <a:t>Movimientos - Devolver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sp>
        <p:nvSpPr>
          <p:cNvPr id="14" name="Rectángulo 13"/>
          <p:cNvSpPr/>
          <p:nvPr/>
        </p:nvSpPr>
        <p:spPr>
          <a:xfrm>
            <a:off x="251520" y="1268760"/>
            <a:ext cx="6120680" cy="58477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90488" lvl="1"/>
            <a:r>
              <a:rPr lang="es-ES" sz="1600" spc="-1" dirty="0" smtClean="0">
                <a:solidFill>
                  <a:srgbClr val="FFFFFF"/>
                </a:solidFill>
                <a:latin typeface="Alfabet Medium"/>
              </a:rPr>
              <a:t>Desde el área de Educación será posible Devolver la Cabecera de Movimientos al establecimiento en caso de que haya errores.</a:t>
            </a:r>
            <a:endParaRPr lang="es-ES" sz="1600" spc="-1" dirty="0">
              <a:solidFill>
                <a:srgbClr val="FFFFFF"/>
              </a:solidFill>
              <a:latin typeface="Alfabet Medium"/>
            </a:endParaRPr>
          </a:p>
        </p:txBody>
      </p:sp>
      <p:pic>
        <p:nvPicPr>
          <p:cNvPr id="9" name="Imagen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88024" y="3227430"/>
            <a:ext cx="3761973" cy="1779726"/>
          </a:xfrm>
          <a:prstGeom prst="rect">
            <a:avLst/>
          </a:prstGeom>
        </p:spPr>
      </p:pic>
      <p:sp>
        <p:nvSpPr>
          <p:cNvPr id="10" name="Flecha abajo 9"/>
          <p:cNvSpPr/>
          <p:nvPr/>
        </p:nvSpPr>
        <p:spPr>
          <a:xfrm>
            <a:off x="7956376" y="2708920"/>
            <a:ext cx="576064" cy="64807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22" name="Rectángulo 21"/>
          <p:cNvSpPr/>
          <p:nvPr/>
        </p:nvSpPr>
        <p:spPr>
          <a:xfrm>
            <a:off x="251520" y="3140968"/>
            <a:ext cx="4366547" cy="107721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90488" lvl="1"/>
            <a:r>
              <a:rPr lang="es-ES" sz="1600" spc="-1" dirty="0" smtClean="0">
                <a:solidFill>
                  <a:srgbClr val="FFFFFF"/>
                </a:solidFill>
                <a:latin typeface="Alfabet Medium"/>
              </a:rPr>
              <a:t>Se deberá </a:t>
            </a:r>
            <a:r>
              <a:rPr lang="es-AR" sz="1600" spc="-1" dirty="0" smtClean="0">
                <a:solidFill>
                  <a:srgbClr val="FFFFFF"/>
                </a:solidFill>
                <a:latin typeface="Alfabet Medium"/>
              </a:rPr>
              <a:t>agregar una observación del motivo de la devolución y al apretar el botón “Devolver” la cabecera aparecerá como “Rechazada” y volverá al Establecimiento.</a:t>
            </a:r>
            <a:endParaRPr lang="es-ES" sz="1600" spc="-1" dirty="0">
              <a:solidFill>
                <a:srgbClr val="FFFFFF"/>
              </a:solidFill>
              <a:latin typeface="Alfabet Medium"/>
            </a:endParaRPr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1521" y="4221088"/>
            <a:ext cx="3384376" cy="750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18139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780" y="1135556"/>
            <a:ext cx="8388424" cy="1710367"/>
          </a:xfrm>
          <a:prstGeom prst="rect">
            <a:avLst/>
          </a:prstGeom>
        </p:spPr>
      </p:pic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grpSp>
        <p:nvGrpSpPr>
          <p:cNvPr id="17" name="15 Grupo"/>
          <p:cNvGrpSpPr/>
          <p:nvPr/>
        </p:nvGrpSpPr>
        <p:grpSpPr>
          <a:xfrm>
            <a:off x="540000" y="482760"/>
            <a:ext cx="7704408" cy="573480"/>
            <a:chOff x="540000" y="482760"/>
            <a:chExt cx="6802560" cy="573480"/>
          </a:xfrm>
        </p:grpSpPr>
        <p:pic>
          <p:nvPicPr>
            <p:cNvPr id="18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5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9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 smtClean="0">
                  <a:solidFill>
                    <a:srgbClr val="FFFFFF"/>
                  </a:solidFill>
                  <a:latin typeface="Alfabet ExtraBold"/>
                </a:rPr>
                <a:t>Movimientos - Enviar a Provincia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2" name="Imagen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780" y="3440577"/>
            <a:ext cx="6060216" cy="973173"/>
          </a:xfrm>
          <a:prstGeom prst="rect">
            <a:avLst/>
          </a:prstGeom>
        </p:spPr>
      </p:pic>
      <p:pic>
        <p:nvPicPr>
          <p:cNvPr id="3" name="Imagen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5780" y="4581128"/>
            <a:ext cx="8532440" cy="1382320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5816" y="2216797"/>
            <a:ext cx="4495238" cy="14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271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141 Imagen"/>
          <p:cNvPicPr/>
          <p:nvPr/>
        </p:nvPicPr>
        <p:blipFill>
          <a:blip r:embed="rId3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grpSp>
        <p:nvGrpSpPr>
          <p:cNvPr id="17" name="15 Grupo"/>
          <p:cNvGrpSpPr/>
          <p:nvPr/>
        </p:nvGrpSpPr>
        <p:grpSpPr>
          <a:xfrm>
            <a:off x="540000" y="482760"/>
            <a:ext cx="8298220" cy="952653"/>
            <a:chOff x="540000" y="482760"/>
            <a:chExt cx="6802560" cy="952653"/>
          </a:xfrm>
        </p:grpSpPr>
        <p:pic>
          <p:nvPicPr>
            <p:cNvPr id="18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4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9" name="13 Rectángulo"/>
            <p:cNvSpPr/>
            <p:nvPr/>
          </p:nvSpPr>
          <p:spPr>
            <a:xfrm>
              <a:off x="1008360" y="482760"/>
              <a:ext cx="6334200" cy="95265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 smtClean="0">
                  <a:solidFill>
                    <a:srgbClr val="FFFFFF"/>
                  </a:solidFill>
                  <a:latin typeface="Alfabet ExtraBold"/>
                </a:rPr>
                <a:t>Movimientos - Imprimir Reporte Provincia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5" name="Imagen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136" y="1056240"/>
            <a:ext cx="7670032" cy="5297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77925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8816</TotalTime>
  <Words>570</Words>
  <Application>Microsoft Office PowerPoint</Application>
  <PresentationFormat>Presentación en pantalla (4:3)</PresentationFormat>
  <Paragraphs>62</Paragraphs>
  <Slides>13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13</vt:i4>
      </vt:variant>
    </vt:vector>
  </HeadingPairs>
  <TitlesOfParts>
    <vt:vector size="25" baseType="lpstr">
      <vt:lpstr>Alfabet ExtraBold</vt:lpstr>
      <vt:lpstr>Alfabet Medium</vt:lpstr>
      <vt:lpstr>Arial</vt:lpstr>
      <vt:lpstr>Calibri</vt:lpstr>
      <vt:lpstr>Calibri Light</vt:lpstr>
      <vt:lpstr>DejaVu Sans</vt:lpstr>
      <vt:lpstr>Roboto Medium</vt:lpstr>
      <vt:lpstr>Symbol</vt:lpstr>
      <vt:lpstr>Times New Roman</vt:lpstr>
      <vt:lpstr>Wingdings</vt:lpstr>
      <vt:lpstr>Office Theme</vt:lpstr>
      <vt:lpstr>Tema de Office</vt:lpstr>
      <vt:lpstr>Devolución de Subvenciones Docentes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Pavoni Julian</dc:creator>
  <cp:lastModifiedBy>Cassulo Guido</cp:lastModifiedBy>
  <cp:revision>196</cp:revision>
  <dcterms:created xsi:type="dcterms:W3CDTF">2024-04-17T14:44:25Z</dcterms:created>
  <dcterms:modified xsi:type="dcterms:W3CDTF">2025-10-07T12:49:36Z</dcterms:modified>
  <dc:language>es-AR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3</vt:i4>
  </property>
  <property fmtid="{D5CDD505-2E9C-101B-9397-08002B2CF9AE}" pid="3" name="PresentationFormat">
    <vt:lpwstr>Presentación en pantalla (4:3)</vt:lpwstr>
  </property>
  <property fmtid="{D5CDD505-2E9C-101B-9397-08002B2CF9AE}" pid="4" name="Slides">
    <vt:i4>24</vt:i4>
  </property>
</Properties>
</file>