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2"/>
  </p:notesMasterIdLst>
  <p:sldIdLst>
    <p:sldId id="256" r:id="rId3"/>
    <p:sldId id="295" r:id="rId4"/>
    <p:sldId id="326" r:id="rId5"/>
    <p:sldId id="327" r:id="rId6"/>
    <p:sldId id="257" r:id="rId7"/>
    <p:sldId id="291" r:id="rId8"/>
    <p:sldId id="307" r:id="rId9"/>
    <p:sldId id="346" r:id="rId10"/>
    <p:sldId id="347" r:id="rId11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1C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6" d="100"/>
          <a:sy n="106" d="100"/>
        </p:scale>
        <p:origin x="168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desplazar la diapositiva</a:t>
            </a: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s-AR" sz="2000" b="0" strike="noStrike" spc="-1">
                <a:latin typeface="Arial"/>
              </a:rPr>
              <a:t>Pulse para editar el formato de las notas</a:t>
            </a:r>
          </a:p>
        </p:txBody>
      </p:sp>
      <p:sp>
        <p:nvSpPr>
          <p:cNvPr id="1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s-AR" sz="1400" b="0" strike="noStrike" spc="-1">
                <a:latin typeface="Times New Roman"/>
              </a:rPr>
              <a:t>&lt;cabecera&gt;</a:t>
            </a:r>
          </a:p>
        </p:txBody>
      </p:sp>
      <p:sp>
        <p:nvSpPr>
          <p:cNvPr id="117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r"/>
            <a:r>
              <a:rPr lang="es-AR" sz="1400" b="0" strike="noStrike" spc="-1">
                <a:latin typeface="Times New Roman"/>
              </a:rPr>
              <a:t>&lt;fecha/hora&gt;</a:t>
            </a:r>
          </a:p>
        </p:txBody>
      </p:sp>
      <p:sp>
        <p:nvSpPr>
          <p:cNvPr id="118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r>
              <a:rPr lang="es-AR" sz="1400" b="0" strike="noStrike" spc="-1">
                <a:latin typeface="Times New Roman"/>
              </a:rPr>
              <a:t>&lt;pie de página&gt;</a:t>
            </a:r>
          </a:p>
        </p:txBody>
      </p:sp>
      <p:sp>
        <p:nvSpPr>
          <p:cNvPr id="119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25E1D73A-C896-4F10-8A1F-42DA976BB268}" type="slidenum">
              <a:rPr lang="es-AR" sz="1400" b="0" strike="noStrike" spc="-1">
                <a:latin typeface="Times New Roman"/>
              </a:rPr>
              <a:pPr algn="r"/>
              <a:t>‹Nº›</a:t>
            </a:fld>
            <a:endParaRPr lang="es-AR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2487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9669A908-0F06-4E47-960C-06257B12840D}" type="slidenum">
              <a:rPr lang="es-AR" sz="1200" spc="-1">
                <a:solidFill>
                  <a:srgbClr val="000000"/>
                </a:solidFill>
              </a:rPr>
              <a:pPr algn="r"/>
              <a:t>2</a:t>
            </a:fld>
            <a:endParaRPr lang="es-AR" sz="1200" spc="-1">
              <a:solidFill>
                <a:prstClr val="black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99397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9669A908-0F06-4E47-960C-06257B12840D}" type="slidenum">
              <a:rPr lang="es-AR" sz="1200" spc="-1">
                <a:solidFill>
                  <a:srgbClr val="000000"/>
                </a:solidFill>
              </a:rPr>
              <a:pPr algn="r"/>
              <a:t>3</a:t>
            </a:fld>
            <a:endParaRPr lang="es-AR" sz="1200" spc="-1">
              <a:solidFill>
                <a:prstClr val="black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67608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9669A908-0F06-4E47-960C-06257B12840D}" type="slidenum">
              <a:rPr lang="es-AR" sz="1200" spc="-1">
                <a:solidFill>
                  <a:srgbClr val="000000"/>
                </a:solidFill>
              </a:rPr>
              <a:pPr algn="r"/>
              <a:t>4</a:t>
            </a:fld>
            <a:endParaRPr lang="es-AR" sz="1200" spc="-1">
              <a:solidFill>
                <a:prstClr val="black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4724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5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92018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6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1571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7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68603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8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6281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9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374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editar el formato del texto de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strike="noStrike" spc="-1"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strike="noStrike" spc="-1"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strike="noStrike" spc="-1"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strike="noStrike" spc="-1"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editar el formato del texto de título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strike="noStrike" spc="-1"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strike="noStrike" spc="-1"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strike="noStrike" spc="-1"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strike="noStrike" spc="-1"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5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4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E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920" y="980728"/>
            <a:ext cx="7858496" cy="208823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s-AR" sz="4400" b="0" strike="noStrike" spc="-1" dirty="0" smtClean="0">
                <a:solidFill>
                  <a:srgbClr val="FFFFFF"/>
                </a:solidFill>
                <a:latin typeface="Alfabet ExtraBold"/>
              </a:rPr>
              <a:t>Devolución de Subvenciones Docentes</a:t>
            </a:r>
            <a:endParaRPr lang="es-AR" sz="4400" b="0" strike="noStrike" spc="-1" dirty="0">
              <a:latin typeface="Arial"/>
            </a:endParaRPr>
          </a:p>
        </p:txBody>
      </p:sp>
      <p:pic>
        <p:nvPicPr>
          <p:cNvPr id="121" name="120 Imagen"/>
          <p:cNvPicPr/>
          <p:nvPr/>
        </p:nvPicPr>
        <p:blipFill>
          <a:blip r:embed="rId2" cstate="print"/>
          <a:stretch/>
        </p:blipFill>
        <p:spPr>
          <a:xfrm>
            <a:off x="180000" y="5396400"/>
            <a:ext cx="8819640" cy="14432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 txBox="1">
            <a:spLocks/>
          </p:cNvSpPr>
          <p:nvPr/>
        </p:nvSpPr>
        <p:spPr>
          <a:xfrm>
            <a:off x="458552" y="3429000"/>
            <a:ext cx="8217904" cy="108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/>
            <a:r>
              <a:rPr lang="es-AR" sz="2800" kern="0" spc="-1" dirty="0" smtClean="0">
                <a:solidFill>
                  <a:srgbClr val="FFFFFF"/>
                </a:solidFill>
                <a:latin typeface="Alfabet ExtraBold"/>
              </a:rPr>
              <a:t>Instructivo 6 – Gestión de Movimientos: </a:t>
            </a:r>
          </a:p>
          <a:p>
            <a:pPr algn="r"/>
            <a:r>
              <a:rPr lang="es-AR" sz="2800" kern="0" spc="-1" dirty="0" smtClean="0">
                <a:solidFill>
                  <a:srgbClr val="FFFFFF"/>
                </a:solidFill>
                <a:latin typeface="Alfabet ExtraBold"/>
              </a:rPr>
              <a:t>Perfil Educación</a:t>
            </a:r>
            <a:endParaRPr lang="es-AR" sz="2800" kern="0" spc="-1" dirty="0">
              <a:solidFill>
                <a:sysClr val="windowText" lastClr="000000"/>
              </a:solidFill>
              <a:latin typeface="Arial"/>
            </a:endParaRPr>
          </a:p>
        </p:txBody>
      </p:sp>
      <p:cxnSp>
        <p:nvCxnSpPr>
          <p:cNvPr id="3" name="Conector recto 2"/>
          <p:cNvCxnSpPr/>
          <p:nvPr/>
        </p:nvCxnSpPr>
        <p:spPr>
          <a:xfrm flipH="1">
            <a:off x="2843808" y="4581128"/>
            <a:ext cx="5832648" cy="0"/>
          </a:xfrm>
          <a:prstGeom prst="line">
            <a:avLst/>
          </a:prstGeom>
          <a:ln w="28575">
            <a:solidFill>
              <a:schemeClr val="bg1"/>
            </a:solidFill>
          </a:ln>
          <a:effectLst>
            <a:outerShdw blurRad="50800" dist="38100" dir="5400000" algn="t" rotWithShape="0">
              <a:schemeClr val="bg2">
                <a:alpha val="40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C:\Users\jpavoni\Downloads\ELEMENTOS PARA WEB\ELEMENTOS PARA WEB\CAPA 2 nueva\PARTICIPACION CIUDADANA\BANNERS Y BOTONES-02.jpg"/>
          <p:cNvPicPr/>
          <p:nvPr/>
        </p:nvPicPr>
        <p:blipFill>
          <a:blip r:embed="rId3" cstate="print"/>
          <a:srcRect l="5396" t="37233" r="86991" b="50737"/>
          <a:stretch/>
        </p:blipFill>
        <p:spPr>
          <a:xfrm>
            <a:off x="540000" y="482760"/>
            <a:ext cx="645480" cy="573480"/>
          </a:xfrm>
          <a:prstGeom prst="rect">
            <a:avLst/>
          </a:prstGeom>
          <a:ln w="0">
            <a:noFill/>
          </a:ln>
        </p:spPr>
      </p:pic>
      <p:sp>
        <p:nvSpPr>
          <p:cNvPr id="124" name="13 Rectángulo"/>
          <p:cNvSpPr/>
          <p:nvPr/>
        </p:nvSpPr>
        <p:spPr>
          <a:xfrm>
            <a:off x="1185480" y="482760"/>
            <a:ext cx="795816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MX" sz="2500" spc="-1" dirty="0" smtClean="0">
                <a:solidFill>
                  <a:srgbClr val="FFFFFF"/>
                </a:solidFill>
                <a:latin typeface="Alfabet ExtraBold"/>
                <a:ea typeface="Roboto Medium"/>
              </a:rPr>
              <a:t>Hito 2 – Gestión de Movimientos </a:t>
            </a:r>
            <a:endParaRPr lang="es-AR" sz="2500" spc="-1" dirty="0">
              <a:solidFill>
                <a:prstClr val="black"/>
              </a:solidFill>
            </a:endParaRPr>
          </a:p>
        </p:txBody>
      </p: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2" name="Grupo 1"/>
          <p:cNvGrpSpPr/>
          <p:nvPr/>
        </p:nvGrpSpPr>
        <p:grpSpPr>
          <a:xfrm>
            <a:off x="577752" y="1412776"/>
            <a:ext cx="6656040" cy="398655"/>
            <a:chOff x="577752" y="1158137"/>
            <a:chExt cx="6656040" cy="398655"/>
          </a:xfrm>
        </p:grpSpPr>
        <p:pic>
          <p:nvPicPr>
            <p:cNvPr id="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r>
                <a:rPr lang="es-MX" sz="20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Objetivo del módulo</a:t>
              </a:r>
              <a:endParaRPr lang="es-AR" sz="2000" spc="-1" dirty="0">
                <a:solidFill>
                  <a:prstClr val="black"/>
                </a:solidFill>
              </a:endParaRPr>
            </a:p>
          </p:txBody>
        </p:sp>
      </p:grpSp>
      <p:sp>
        <p:nvSpPr>
          <p:cNvPr id="11" name="CuadroTexto 2"/>
          <p:cNvSpPr/>
          <p:nvPr/>
        </p:nvSpPr>
        <p:spPr>
          <a:xfrm>
            <a:off x="540000" y="1877342"/>
            <a:ext cx="8208464" cy="36303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Registrar y controlar</a:t>
            </a:r>
            <a:r>
              <a:rPr lang="es-ES" dirty="0">
                <a:solidFill>
                  <a:schemeClr val="bg1"/>
                </a:solidFill>
              </a:rPr>
              <a:t> de manera ordenada los movimientos de los docentes (altas, bajas y modificaciones).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Garantizar la trazabilidad</a:t>
            </a:r>
            <a:r>
              <a:rPr lang="es-ES" dirty="0">
                <a:solidFill>
                  <a:schemeClr val="bg1"/>
                </a:solidFill>
              </a:rPr>
              <a:t> de los cambios realizados en la nómina docente.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Optimizar la gestión administrativa</a:t>
            </a:r>
            <a:r>
              <a:rPr lang="es-ES" dirty="0">
                <a:solidFill>
                  <a:schemeClr val="bg1"/>
                </a:solidFill>
              </a:rPr>
              <a:t>, reduciendo errores y duplicaciones de información.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Facilitar la consulta rápida</a:t>
            </a:r>
            <a:r>
              <a:rPr lang="es-ES" dirty="0">
                <a:solidFill>
                  <a:schemeClr val="bg1"/>
                </a:solidFill>
              </a:rPr>
              <a:t> del historial de cada docente.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Asegurar la transparencia</a:t>
            </a:r>
            <a:r>
              <a:rPr lang="es-ES" dirty="0">
                <a:solidFill>
                  <a:schemeClr val="bg1"/>
                </a:solidFill>
              </a:rPr>
              <a:t> en los procesos de incorporación, desvinculación y actualización de datos.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Cumplir con normativas internas y externas</a:t>
            </a:r>
            <a:r>
              <a:rPr lang="es-ES" dirty="0">
                <a:solidFill>
                  <a:schemeClr val="bg1"/>
                </a:solidFill>
              </a:rPr>
              <a:t> relacionadas con la gestión del personal docente.</a:t>
            </a:r>
          </a:p>
        </p:txBody>
      </p:sp>
    </p:spTree>
    <p:extLst>
      <p:ext uri="{BB962C8B-B14F-4D97-AF65-F5344CB8AC3E}">
        <p14:creationId xmlns:p14="http://schemas.microsoft.com/office/powerpoint/2010/main" val="3404717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C:\Users\jpavoni\Downloads\ELEMENTOS PARA WEB\ELEMENTOS PARA WEB\CAPA 2 nueva\PARTICIPACION CIUDADANA\BANNERS Y BOTONES-02.jpg"/>
          <p:cNvPicPr/>
          <p:nvPr/>
        </p:nvPicPr>
        <p:blipFill>
          <a:blip r:embed="rId3" cstate="print"/>
          <a:srcRect l="5396" t="37233" r="86991" b="50737"/>
          <a:stretch/>
        </p:blipFill>
        <p:spPr>
          <a:xfrm>
            <a:off x="540000" y="482760"/>
            <a:ext cx="645480" cy="573480"/>
          </a:xfrm>
          <a:prstGeom prst="rect">
            <a:avLst/>
          </a:prstGeom>
          <a:ln w="0">
            <a:noFill/>
          </a:ln>
        </p:spPr>
      </p:pic>
      <p:sp>
        <p:nvSpPr>
          <p:cNvPr id="124" name="13 Rectángulo"/>
          <p:cNvSpPr/>
          <p:nvPr/>
        </p:nvSpPr>
        <p:spPr>
          <a:xfrm>
            <a:off x="1185480" y="482760"/>
            <a:ext cx="795816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MX" sz="2500" spc="-1" dirty="0" smtClean="0">
                <a:solidFill>
                  <a:srgbClr val="FFFFFF"/>
                </a:solidFill>
                <a:latin typeface="Alfabet ExtraBold"/>
                <a:ea typeface="Roboto Medium"/>
              </a:rPr>
              <a:t>Hito 2 – Gestión de Movimientos </a:t>
            </a:r>
            <a:endParaRPr lang="es-AR" sz="2500" spc="-1" dirty="0">
              <a:solidFill>
                <a:prstClr val="black"/>
              </a:solidFill>
            </a:endParaRPr>
          </a:p>
        </p:txBody>
      </p: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2" name="Grupo 1"/>
          <p:cNvGrpSpPr/>
          <p:nvPr/>
        </p:nvGrpSpPr>
        <p:grpSpPr>
          <a:xfrm>
            <a:off x="577752" y="1268760"/>
            <a:ext cx="6656040" cy="398655"/>
            <a:chOff x="577752" y="1158137"/>
            <a:chExt cx="6656040" cy="398655"/>
          </a:xfrm>
        </p:grpSpPr>
        <p:pic>
          <p:nvPicPr>
            <p:cNvPr id="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r>
                <a:rPr lang="es-MX" sz="20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Requisitos</a:t>
              </a:r>
              <a:endParaRPr lang="es-AR" sz="2000" spc="-1" dirty="0">
                <a:solidFill>
                  <a:prstClr val="black"/>
                </a:solidFill>
              </a:endParaRPr>
            </a:p>
          </p:txBody>
        </p:sp>
      </p:grpSp>
      <p:sp>
        <p:nvSpPr>
          <p:cNvPr id="11" name="CuadroTexto 2"/>
          <p:cNvSpPr/>
          <p:nvPr/>
        </p:nvSpPr>
        <p:spPr>
          <a:xfrm>
            <a:off x="540000" y="1877342"/>
            <a:ext cx="8496496" cy="39380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Registro de altas</a:t>
            </a:r>
            <a:r>
              <a:rPr lang="es-ES" sz="1500" dirty="0">
                <a:solidFill>
                  <a:schemeClr val="bg1"/>
                </a:solidFill>
              </a:rPr>
              <a:t> con datos completos del docente (datos personales, </a:t>
            </a:r>
            <a:r>
              <a:rPr lang="es-ES" sz="1500" dirty="0" smtClean="0">
                <a:solidFill>
                  <a:schemeClr val="bg1"/>
                </a:solidFill>
              </a:rPr>
              <a:t>cargo, fecha </a:t>
            </a:r>
            <a:r>
              <a:rPr lang="es-ES" sz="1500" dirty="0">
                <a:solidFill>
                  <a:schemeClr val="bg1"/>
                </a:solidFill>
              </a:rPr>
              <a:t>de ingreso, etc.).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Gestión de bajas</a:t>
            </a:r>
            <a:r>
              <a:rPr lang="es-ES" sz="1500" dirty="0">
                <a:solidFill>
                  <a:schemeClr val="bg1"/>
                </a:solidFill>
              </a:rPr>
              <a:t> con motivo de desvinculación, fecha </a:t>
            </a:r>
            <a:r>
              <a:rPr lang="es-ES" sz="1500" dirty="0" smtClean="0">
                <a:solidFill>
                  <a:schemeClr val="bg1"/>
                </a:solidFill>
              </a:rPr>
              <a:t>efectiva, etc.</a:t>
            </a:r>
            <a:endParaRPr lang="es-ES" sz="1500" dirty="0">
              <a:solidFill>
                <a:schemeClr val="bg1"/>
              </a:solidFill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Modificaciones</a:t>
            </a:r>
            <a:r>
              <a:rPr lang="es-ES" sz="1500" dirty="0">
                <a:solidFill>
                  <a:schemeClr val="bg1"/>
                </a:solidFill>
              </a:rPr>
              <a:t> en los </a:t>
            </a:r>
            <a:r>
              <a:rPr lang="es-ES" sz="1500" dirty="0" smtClean="0">
                <a:solidFill>
                  <a:schemeClr val="bg1"/>
                </a:solidFill>
              </a:rPr>
              <a:t>datos.</a:t>
            </a:r>
            <a:endParaRPr lang="es-ES" sz="1500" dirty="0">
              <a:solidFill>
                <a:schemeClr val="bg1"/>
              </a:solidFill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Historial de movimientos</a:t>
            </a:r>
            <a:r>
              <a:rPr lang="es-ES" sz="1500" dirty="0">
                <a:solidFill>
                  <a:schemeClr val="bg1"/>
                </a:solidFill>
              </a:rPr>
              <a:t> accesible para auditoría y consultas.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Notificación interna</a:t>
            </a:r>
            <a:r>
              <a:rPr lang="es-ES" sz="1500" dirty="0">
                <a:solidFill>
                  <a:schemeClr val="bg1"/>
                </a:solidFill>
              </a:rPr>
              <a:t> a las áreas involucradas </a:t>
            </a:r>
            <a:r>
              <a:rPr lang="es-ES" sz="1500" dirty="0" smtClean="0">
                <a:solidFill>
                  <a:schemeClr val="bg1"/>
                </a:solidFill>
              </a:rPr>
              <a:t>(Secretaría de Educación, Establecimiento, Provincia).</a:t>
            </a:r>
            <a:endParaRPr lang="es-ES" sz="1500" dirty="0">
              <a:solidFill>
                <a:schemeClr val="bg1"/>
              </a:solidFill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Interfaz amigable y clara</a:t>
            </a:r>
            <a:r>
              <a:rPr lang="es-ES" sz="1500" dirty="0">
                <a:solidFill>
                  <a:schemeClr val="bg1"/>
                </a:solidFill>
              </a:rPr>
              <a:t> para la carga y consulta de movimientos.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Seguridad y permisos de acceso</a:t>
            </a:r>
            <a:r>
              <a:rPr lang="es-ES" sz="1500" dirty="0">
                <a:solidFill>
                  <a:schemeClr val="bg1"/>
                </a:solidFill>
              </a:rPr>
              <a:t>, garantizando que </a:t>
            </a:r>
            <a:r>
              <a:rPr lang="es-ES" sz="1500" dirty="0" smtClean="0">
                <a:solidFill>
                  <a:schemeClr val="bg1"/>
                </a:solidFill>
              </a:rPr>
              <a:t>sólo </a:t>
            </a:r>
            <a:r>
              <a:rPr lang="es-ES" sz="1500" dirty="0">
                <a:solidFill>
                  <a:schemeClr val="bg1"/>
                </a:solidFill>
              </a:rPr>
              <a:t>personal autorizado pueda realizar cambios.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Reportes y listados</a:t>
            </a:r>
            <a:r>
              <a:rPr lang="es-ES" sz="1500" dirty="0">
                <a:solidFill>
                  <a:schemeClr val="bg1"/>
                </a:solidFill>
              </a:rPr>
              <a:t> de movimientos filtrados por </a:t>
            </a:r>
            <a:r>
              <a:rPr lang="es-ES" sz="1500" dirty="0" smtClean="0">
                <a:solidFill>
                  <a:schemeClr val="bg1"/>
                </a:solidFill>
              </a:rPr>
              <a:t>fechas desarrollados a la medida del formato exigido por Provincia.</a:t>
            </a:r>
            <a:endParaRPr lang="es-ES" sz="1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3068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C:\Users\jpavoni\Downloads\ELEMENTOS PARA WEB\ELEMENTOS PARA WEB\CAPA 2 nueva\PARTICIPACION CIUDADANA\BANNERS Y BOTONES-02.jpg"/>
          <p:cNvPicPr/>
          <p:nvPr/>
        </p:nvPicPr>
        <p:blipFill>
          <a:blip r:embed="rId3" cstate="print"/>
          <a:srcRect l="5396" t="37233" r="86991" b="50737"/>
          <a:stretch/>
        </p:blipFill>
        <p:spPr>
          <a:xfrm>
            <a:off x="540000" y="482760"/>
            <a:ext cx="645480" cy="573480"/>
          </a:xfrm>
          <a:prstGeom prst="rect">
            <a:avLst/>
          </a:prstGeom>
          <a:ln w="0">
            <a:noFill/>
          </a:ln>
        </p:spPr>
      </p:pic>
      <p:sp>
        <p:nvSpPr>
          <p:cNvPr id="124" name="13 Rectángulo"/>
          <p:cNvSpPr/>
          <p:nvPr/>
        </p:nvSpPr>
        <p:spPr>
          <a:xfrm>
            <a:off x="1185480" y="482760"/>
            <a:ext cx="795816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MX" sz="2500" spc="-1" dirty="0" smtClean="0">
                <a:solidFill>
                  <a:srgbClr val="FFFFFF"/>
                </a:solidFill>
                <a:latin typeface="Alfabet ExtraBold"/>
                <a:ea typeface="Roboto Medium"/>
              </a:rPr>
              <a:t>Hito 2 – Gestión de Movimientos </a:t>
            </a:r>
            <a:endParaRPr lang="es-AR" sz="2500" spc="-1" dirty="0">
              <a:solidFill>
                <a:prstClr val="black"/>
              </a:solidFill>
            </a:endParaRPr>
          </a:p>
        </p:txBody>
      </p: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40000" y="1747842"/>
            <a:ext cx="8208464" cy="41843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Mayor eficiencia administrativa</a:t>
            </a:r>
            <a:r>
              <a:rPr lang="es-ES" dirty="0">
                <a:solidFill>
                  <a:schemeClr val="bg1"/>
                </a:solidFill>
              </a:rPr>
              <a:t>: reducción de tiempos en la carga y gestión de datos.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Disminución de errores</a:t>
            </a:r>
            <a:r>
              <a:rPr lang="es-ES" dirty="0">
                <a:solidFill>
                  <a:schemeClr val="bg1"/>
                </a:solidFill>
              </a:rPr>
              <a:t>: menor duplicación de información y más exactitud en los registros.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Transparencia en los procesos</a:t>
            </a:r>
            <a:r>
              <a:rPr lang="es-ES" dirty="0">
                <a:solidFill>
                  <a:schemeClr val="bg1"/>
                </a:solidFill>
              </a:rPr>
              <a:t>: todos los movimientos quedan documentados y auditables.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Acceso rápido a la información</a:t>
            </a:r>
            <a:r>
              <a:rPr lang="es-ES" dirty="0">
                <a:solidFill>
                  <a:schemeClr val="bg1"/>
                </a:solidFill>
              </a:rPr>
              <a:t>: consultas centralizadas sobre historial docente.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Mejor comunicación interna</a:t>
            </a:r>
            <a:r>
              <a:rPr lang="es-ES" dirty="0">
                <a:solidFill>
                  <a:schemeClr val="bg1"/>
                </a:solidFill>
              </a:rPr>
              <a:t>: las áreas involucradas (RRHH, Secretaría, Dirección) reciben la información en tiempo y forma.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 smtClean="0">
                <a:solidFill>
                  <a:schemeClr val="bg1"/>
                </a:solidFill>
              </a:rPr>
              <a:t>Cumplimiento </a:t>
            </a:r>
            <a:r>
              <a:rPr lang="es-ES" b="1" dirty="0">
                <a:solidFill>
                  <a:schemeClr val="bg1"/>
                </a:solidFill>
              </a:rPr>
              <a:t>normativo</a:t>
            </a:r>
            <a:r>
              <a:rPr lang="es-ES" dirty="0">
                <a:solidFill>
                  <a:schemeClr val="bg1"/>
                </a:solidFill>
              </a:rPr>
              <a:t>: garantiza </a:t>
            </a:r>
            <a:r>
              <a:rPr lang="es-ES" dirty="0" smtClean="0">
                <a:solidFill>
                  <a:schemeClr val="bg1"/>
                </a:solidFill>
              </a:rPr>
              <a:t>el cumplimiento de los formatos utilizados por Provincia</a:t>
            </a:r>
            <a:endParaRPr lang="es-ES" dirty="0">
              <a:solidFill>
                <a:schemeClr val="bg1"/>
              </a:solidFill>
            </a:endParaRPr>
          </a:p>
        </p:txBody>
      </p:sp>
      <p:grpSp>
        <p:nvGrpSpPr>
          <p:cNvPr id="12" name="Grupo 11"/>
          <p:cNvGrpSpPr/>
          <p:nvPr/>
        </p:nvGrpSpPr>
        <p:grpSpPr>
          <a:xfrm>
            <a:off x="580256" y="1268760"/>
            <a:ext cx="6656040" cy="398655"/>
            <a:chOff x="577752" y="1158137"/>
            <a:chExt cx="6656040" cy="398655"/>
          </a:xfrm>
        </p:grpSpPr>
        <p:pic>
          <p:nvPicPr>
            <p:cNvPr id="1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r>
                <a:rPr lang="es-MX" sz="20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Beneficios esperados</a:t>
              </a:r>
              <a:endParaRPr lang="es-AR" sz="2000" spc="-1" dirty="0">
                <a:solidFill>
                  <a:prstClr val="black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0029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b="0" strike="noStrike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Menú del Módulo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3" name="Flecha a la derecha con bandas 2"/>
          <p:cNvSpPr/>
          <p:nvPr/>
        </p:nvSpPr>
        <p:spPr>
          <a:xfrm>
            <a:off x="3707904" y="3212976"/>
            <a:ext cx="792088" cy="504056"/>
          </a:xfrm>
          <a:prstGeom prst="strip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759" y="1093475"/>
            <a:ext cx="2230058" cy="4752331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0032" y="1484784"/>
            <a:ext cx="2557412" cy="371987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8" y="1843373"/>
            <a:ext cx="9036496" cy="3209436"/>
          </a:xfrm>
          <a:prstGeom prst="rect">
            <a:avLst/>
          </a:prstGeom>
        </p:spPr>
      </p:pic>
      <p:grpSp>
        <p:nvGrpSpPr>
          <p:cNvPr id="122" name="15 Grupo"/>
          <p:cNvGrpSpPr/>
          <p:nvPr/>
        </p:nvGrpSpPr>
        <p:grpSpPr>
          <a:xfrm>
            <a:off x="540000" y="482760"/>
            <a:ext cx="7704408" cy="952653"/>
            <a:chOff x="540000" y="482760"/>
            <a:chExt cx="6802560" cy="952653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4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95265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Listado Cabeceras de Movimientos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5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18" name="CuadroTexto 2"/>
          <p:cNvSpPr/>
          <p:nvPr/>
        </p:nvSpPr>
        <p:spPr>
          <a:xfrm>
            <a:off x="5580112" y="2320717"/>
            <a:ext cx="2133395" cy="460211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200" dirty="0" smtClean="0"/>
              <a:t>Búsquedas por cualquiera de las columnas de la grilla</a:t>
            </a:r>
            <a:endParaRPr lang="es-AR" sz="12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sp>
        <p:nvSpPr>
          <p:cNvPr id="19" name="CuadroTexto 2"/>
          <p:cNvSpPr/>
          <p:nvPr/>
        </p:nvSpPr>
        <p:spPr>
          <a:xfrm>
            <a:off x="1421110" y="2361258"/>
            <a:ext cx="3366914" cy="460211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200" dirty="0" smtClean="0"/>
              <a:t>Nueva Cabecera de Movimientos (el perfil </a:t>
            </a:r>
            <a:r>
              <a:rPr lang="es-ES" sz="1200" dirty="0" err="1" smtClean="0"/>
              <a:t>Admin</a:t>
            </a:r>
            <a:r>
              <a:rPr lang="es-ES" sz="1200" dirty="0" smtClean="0"/>
              <a:t> también puede dar de alta Cabeceras)</a:t>
            </a:r>
            <a:endParaRPr lang="es-AR" sz="12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sp>
        <p:nvSpPr>
          <p:cNvPr id="20" name="CuadroTexto 2"/>
          <p:cNvSpPr/>
          <p:nvPr/>
        </p:nvSpPr>
        <p:spPr>
          <a:xfrm>
            <a:off x="4211960" y="5101995"/>
            <a:ext cx="1573201" cy="337100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600" dirty="0" smtClean="0"/>
              <a:t>Área Listado</a:t>
            </a:r>
            <a:endParaRPr lang="es-AR" sz="16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03" y="2348880"/>
            <a:ext cx="412774" cy="412774"/>
          </a:xfrm>
          <a:prstGeom prst="rect">
            <a:avLst/>
          </a:prstGeom>
        </p:spPr>
      </p:pic>
      <p:pic>
        <p:nvPicPr>
          <p:cNvPr id="15" name="Imagen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778900" y="2420889"/>
            <a:ext cx="393500" cy="393500"/>
          </a:xfrm>
          <a:prstGeom prst="rect">
            <a:avLst/>
          </a:prstGeom>
        </p:spPr>
      </p:pic>
      <p:sp>
        <p:nvSpPr>
          <p:cNvPr id="23" name="Rectángulo 22"/>
          <p:cNvSpPr/>
          <p:nvPr/>
        </p:nvSpPr>
        <p:spPr>
          <a:xfrm>
            <a:off x="300946" y="1303605"/>
            <a:ext cx="8712968" cy="43088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100" spc="-1" dirty="0" smtClean="0">
                <a:solidFill>
                  <a:srgbClr val="FFFFFF"/>
                </a:solidFill>
                <a:latin typeface="Alfabet Medium"/>
              </a:rPr>
              <a:t>El perfil </a:t>
            </a:r>
            <a:r>
              <a:rPr lang="es-ES" sz="1100" spc="-1" dirty="0" err="1" smtClean="0">
                <a:solidFill>
                  <a:srgbClr val="FFFFFF"/>
                </a:solidFill>
                <a:latin typeface="Alfabet Medium"/>
              </a:rPr>
              <a:t>Admin</a:t>
            </a:r>
            <a:r>
              <a:rPr lang="es-ES" sz="1100" spc="-1" dirty="0" smtClean="0">
                <a:solidFill>
                  <a:srgbClr val="FFFFFF"/>
                </a:solidFill>
                <a:latin typeface="Alfabet Medium"/>
              </a:rPr>
              <a:t> (Educación) tiene acceso a todas las Cabeceras de Movimientos ( y su detalle) dadas de alta por </a:t>
            </a:r>
            <a:r>
              <a:rPr lang="es-ES" sz="1100" spc="-1" smtClean="0">
                <a:solidFill>
                  <a:srgbClr val="FFFFFF"/>
                </a:solidFill>
                <a:latin typeface="Alfabet Medium"/>
              </a:rPr>
              <a:t>los Establecimientos.</a:t>
            </a:r>
            <a:endParaRPr lang="es-ES" sz="1100" spc="-1" dirty="0">
              <a:solidFill>
                <a:srgbClr val="FFFFFF"/>
              </a:solidFill>
              <a:latin typeface="Alfabet Medium"/>
            </a:endParaRPr>
          </a:p>
        </p:txBody>
      </p:sp>
    </p:spTree>
    <p:extLst>
      <p:ext uri="{BB962C8B-B14F-4D97-AF65-F5344CB8AC3E}">
        <p14:creationId xmlns:p14="http://schemas.microsoft.com/office/powerpoint/2010/main" val="71880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141 Imagen"/>
          <p:cNvPicPr/>
          <p:nvPr/>
        </p:nvPicPr>
        <p:blipFill>
          <a:blip r:embed="rId3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7704408" cy="573480"/>
            <a:chOff x="540000" y="482760"/>
            <a:chExt cx="6802560" cy="573480"/>
          </a:xfrm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4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</a:t>
              </a:r>
              <a:r>
                <a:rPr lang="es-MX" sz="2800" spc="-1" dirty="0">
                  <a:solidFill>
                    <a:srgbClr val="FFFFFF"/>
                  </a:solidFill>
                  <a:latin typeface="Alfabet ExtraBold"/>
                </a:rPr>
                <a:t>-</a:t>
              </a: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 Agregar y Eliminar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8" y="4145174"/>
            <a:ext cx="8964488" cy="1660090"/>
          </a:xfrm>
          <a:prstGeom prst="rect">
            <a:avLst/>
          </a:prstGeom>
        </p:spPr>
      </p:pic>
      <p:sp>
        <p:nvSpPr>
          <p:cNvPr id="8" name="Rectángulo redondeado 7"/>
          <p:cNvSpPr/>
          <p:nvPr/>
        </p:nvSpPr>
        <p:spPr>
          <a:xfrm>
            <a:off x="8172400" y="5301208"/>
            <a:ext cx="720080" cy="432048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04" y="2204864"/>
            <a:ext cx="8928992" cy="1829523"/>
          </a:xfrm>
          <a:prstGeom prst="rect">
            <a:avLst/>
          </a:prstGeom>
        </p:spPr>
      </p:pic>
      <p:sp>
        <p:nvSpPr>
          <p:cNvPr id="5" name="Rectángulo 4"/>
          <p:cNvSpPr/>
          <p:nvPr/>
        </p:nvSpPr>
        <p:spPr>
          <a:xfrm>
            <a:off x="251520" y="1268760"/>
            <a:ext cx="6120680" cy="107721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600" spc="-1" dirty="0" smtClean="0">
                <a:solidFill>
                  <a:srgbClr val="FFFFFF"/>
                </a:solidFill>
                <a:latin typeface="Alfabet Medium"/>
              </a:rPr>
              <a:t>Desde el área de Educación será posible Agregar movimientos en caso de que faltaran, o Eliminar movimientos que no correspondieran, o Eliminar y Agregar movimientos que tuvieran errores de carga.</a:t>
            </a:r>
            <a:endParaRPr lang="es-ES" sz="1600" spc="-1" dirty="0">
              <a:solidFill>
                <a:srgbClr val="FFFFFF"/>
              </a:solidFill>
              <a:latin typeface="Alfabet Medium"/>
            </a:endParaRPr>
          </a:p>
        </p:txBody>
      </p:sp>
      <p:sp>
        <p:nvSpPr>
          <p:cNvPr id="11" name="Rectángulo redondeado 10"/>
          <p:cNvSpPr/>
          <p:nvPr/>
        </p:nvSpPr>
        <p:spPr>
          <a:xfrm>
            <a:off x="7956376" y="2420888"/>
            <a:ext cx="864096" cy="432048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5675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80" y="1135556"/>
            <a:ext cx="8388424" cy="1710367"/>
          </a:xfrm>
          <a:prstGeom prst="rect">
            <a:avLst/>
          </a:prstGeom>
        </p:spPr>
      </p:pic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7704408" cy="573480"/>
            <a:chOff x="540000" y="482760"/>
            <a:chExt cx="6802560" cy="573480"/>
          </a:xfrm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5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- Enviar a Provincia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2" name="Imagen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80" y="3440577"/>
            <a:ext cx="6060216" cy="973173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5780" y="4581128"/>
            <a:ext cx="8532440" cy="138232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5816" y="2216797"/>
            <a:ext cx="4495238" cy="14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271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141 Imagen"/>
          <p:cNvPicPr/>
          <p:nvPr/>
        </p:nvPicPr>
        <p:blipFill>
          <a:blip r:embed="rId3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8298220" cy="952653"/>
            <a:chOff x="540000" y="482760"/>
            <a:chExt cx="6802560" cy="952653"/>
          </a:xfrm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4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95265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- Imprimir Reporte Provincia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136" y="1056240"/>
            <a:ext cx="7670032" cy="5297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792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8613</TotalTime>
  <Words>429</Words>
  <Application>Microsoft Office PowerPoint</Application>
  <PresentationFormat>Presentación en pantalla (4:3)</PresentationFormat>
  <Paragraphs>47</Paragraphs>
  <Slides>9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9</vt:i4>
      </vt:variant>
    </vt:vector>
  </HeadingPairs>
  <TitlesOfParts>
    <vt:vector size="19" baseType="lpstr">
      <vt:lpstr>Alfabet ExtraBold</vt:lpstr>
      <vt:lpstr>Alfabet Medium</vt:lpstr>
      <vt:lpstr>Arial</vt:lpstr>
      <vt:lpstr>DejaVu Sans</vt:lpstr>
      <vt:lpstr>Roboto Medium</vt:lpstr>
      <vt:lpstr>Symbol</vt:lpstr>
      <vt:lpstr>Times New Roman</vt:lpstr>
      <vt:lpstr>Wingdings</vt:lpstr>
      <vt:lpstr>Office Theme</vt:lpstr>
      <vt:lpstr>Office Theme</vt:lpstr>
      <vt:lpstr>Devolución de Subvenciones Docentes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Pavoni Julian</dc:creator>
  <cp:lastModifiedBy>Lopez Gabriela</cp:lastModifiedBy>
  <cp:revision>182</cp:revision>
  <dcterms:created xsi:type="dcterms:W3CDTF">2024-04-17T14:44:25Z</dcterms:created>
  <dcterms:modified xsi:type="dcterms:W3CDTF">2025-09-17T11:32:05Z</dcterms:modified>
  <dc:language>es-AR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Presentación en pantalla (4:3)</vt:lpwstr>
  </property>
  <property fmtid="{D5CDD505-2E9C-101B-9397-08002B2CF9AE}" pid="4" name="Slides">
    <vt:i4>24</vt:i4>
  </property>
</Properties>
</file>