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28"/>
  </p:notesMasterIdLst>
  <p:sldIdLst>
    <p:sldId id="256" r:id="rId4"/>
    <p:sldId id="278" r:id="rId5"/>
    <p:sldId id="279" r:id="rId6"/>
    <p:sldId id="311" r:id="rId7"/>
    <p:sldId id="280" r:id="rId8"/>
    <p:sldId id="302" r:id="rId9"/>
    <p:sldId id="312" r:id="rId10"/>
    <p:sldId id="313" r:id="rId11"/>
    <p:sldId id="318" r:id="rId12"/>
    <p:sldId id="319" r:id="rId13"/>
    <p:sldId id="321" r:id="rId14"/>
    <p:sldId id="320" r:id="rId15"/>
    <p:sldId id="316" r:id="rId16"/>
    <p:sldId id="317" r:id="rId17"/>
    <p:sldId id="323" r:id="rId18"/>
    <p:sldId id="314" r:id="rId19"/>
    <p:sldId id="324" r:id="rId20"/>
    <p:sldId id="315" r:id="rId21"/>
    <p:sldId id="326" r:id="rId22"/>
    <p:sldId id="325" r:id="rId23"/>
    <p:sldId id="327" r:id="rId24"/>
    <p:sldId id="294" r:id="rId25"/>
    <p:sldId id="295" r:id="rId26"/>
    <p:sldId id="277" r:id="rId2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2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721F08-CFC5-47AE-AA4F-2C18733BFCEC}" type="doc">
      <dgm:prSet loTypeId="urn:microsoft.com/office/officeart/2005/8/layout/chevron1" loCatId="process" qsTypeId="urn:microsoft.com/office/officeart/2005/8/quickstyle/simple1" qsCatId="simple" csTypeId="urn:microsoft.com/office/officeart/2005/8/colors/accent3_3" csCatId="accent3" phldr="1"/>
      <dgm:spPr/>
    </dgm:pt>
    <dgm:pt modelId="{B1F26CF5-7A2D-4536-9F97-D7D437907F5F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Presentación Proyecto</a:t>
          </a:r>
          <a:endParaRPr lang="es-AR" dirty="0"/>
        </a:p>
      </dgm:t>
    </dgm:pt>
    <dgm:pt modelId="{3F8BCD66-6389-4080-B8A7-F48C2DACDB2D}" type="parTrans" cxnId="{093577FA-C0C0-442F-A3AE-EC90BAFBC0D9}">
      <dgm:prSet/>
      <dgm:spPr/>
      <dgm:t>
        <a:bodyPr/>
        <a:lstStyle/>
        <a:p>
          <a:endParaRPr lang="es-AR"/>
        </a:p>
      </dgm:t>
    </dgm:pt>
    <dgm:pt modelId="{DE11440B-ADDF-4C84-BF15-5CD9AFF98849}" type="sibTrans" cxnId="{093577FA-C0C0-442F-A3AE-EC90BAFBC0D9}">
      <dgm:prSet/>
      <dgm:spPr/>
      <dgm:t>
        <a:bodyPr/>
        <a:lstStyle/>
        <a:p>
          <a:endParaRPr lang="es-AR"/>
        </a:p>
      </dgm:t>
    </dgm:pt>
    <dgm:pt modelId="{D72689B1-5A75-4951-A2FB-14CD8B2A0221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1</a:t>
          </a:r>
          <a:endParaRPr lang="es-AR" dirty="0"/>
        </a:p>
      </dgm:t>
    </dgm:pt>
    <dgm:pt modelId="{055B95EC-703B-41FF-A7BF-D019A586C2AC}" type="parTrans" cxnId="{C7F13792-DEDE-4FFE-87B1-EC7DD5786C1B}">
      <dgm:prSet/>
      <dgm:spPr/>
      <dgm:t>
        <a:bodyPr/>
        <a:lstStyle/>
        <a:p>
          <a:endParaRPr lang="es-AR"/>
        </a:p>
      </dgm:t>
    </dgm:pt>
    <dgm:pt modelId="{E5CA6AAB-2071-4483-94B7-B0BC3D98F1EF}" type="sibTrans" cxnId="{C7F13792-DEDE-4FFE-87B1-EC7DD5786C1B}">
      <dgm:prSet/>
      <dgm:spPr/>
      <dgm:t>
        <a:bodyPr/>
        <a:lstStyle/>
        <a:p>
          <a:endParaRPr lang="es-AR"/>
        </a:p>
      </dgm:t>
    </dgm:pt>
    <dgm:pt modelId="{DB8FE8FB-B120-46F6-A77F-311D5C3B08F2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ES" dirty="0" smtClean="0"/>
            <a:t>Hito 2</a:t>
          </a:r>
          <a:endParaRPr lang="es-AR" dirty="0"/>
        </a:p>
      </dgm:t>
    </dgm:pt>
    <dgm:pt modelId="{2902E580-A435-4410-B356-174C7421C53F}" type="parTrans" cxnId="{FAC579CA-9B8C-411A-82BC-EAE499025F0E}">
      <dgm:prSet/>
      <dgm:spPr/>
      <dgm:t>
        <a:bodyPr/>
        <a:lstStyle/>
        <a:p>
          <a:endParaRPr lang="es-AR"/>
        </a:p>
      </dgm:t>
    </dgm:pt>
    <dgm:pt modelId="{DECB317B-BAC8-47FA-AA2A-33B06EA7DC59}" type="sibTrans" cxnId="{FAC579CA-9B8C-411A-82BC-EAE499025F0E}">
      <dgm:prSet/>
      <dgm:spPr/>
      <dgm:t>
        <a:bodyPr/>
        <a:lstStyle/>
        <a:p>
          <a:endParaRPr lang="es-AR"/>
        </a:p>
      </dgm:t>
    </dgm:pt>
    <dgm:pt modelId="{8CF19CCA-2202-4A79-8F19-6A0504024186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3</a:t>
          </a:r>
          <a:endParaRPr lang="es-AR" dirty="0"/>
        </a:p>
      </dgm:t>
    </dgm:pt>
    <dgm:pt modelId="{1C1A0310-3C67-4A39-805B-B1EFACB52DEB}" type="parTrans" cxnId="{27E0D6AC-DC43-40FA-BC35-C714D3929682}">
      <dgm:prSet/>
      <dgm:spPr/>
      <dgm:t>
        <a:bodyPr/>
        <a:lstStyle/>
        <a:p>
          <a:endParaRPr lang="es-AR"/>
        </a:p>
      </dgm:t>
    </dgm:pt>
    <dgm:pt modelId="{3D004948-6569-4579-91EE-8E7DDBAD43B7}" type="sibTrans" cxnId="{27E0D6AC-DC43-40FA-BC35-C714D3929682}">
      <dgm:prSet/>
      <dgm:spPr/>
      <dgm:t>
        <a:bodyPr/>
        <a:lstStyle/>
        <a:p>
          <a:endParaRPr lang="es-AR"/>
        </a:p>
      </dgm:t>
    </dgm:pt>
    <dgm:pt modelId="{1012DF7D-426D-4D3C-8AB8-C16ABF9C970D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4</a:t>
          </a:r>
          <a:endParaRPr lang="es-AR" dirty="0"/>
        </a:p>
      </dgm:t>
    </dgm:pt>
    <dgm:pt modelId="{89DF9C7F-0B01-4642-A1ED-7A067EDDC449}" type="parTrans" cxnId="{29DCB6C0-E2AA-4550-86BC-1956343C3390}">
      <dgm:prSet/>
      <dgm:spPr/>
      <dgm:t>
        <a:bodyPr/>
        <a:lstStyle/>
        <a:p>
          <a:endParaRPr lang="es-AR"/>
        </a:p>
      </dgm:t>
    </dgm:pt>
    <dgm:pt modelId="{447C38E5-BC53-4DE9-9706-5A21FF8989AC}" type="sibTrans" cxnId="{29DCB6C0-E2AA-4550-86BC-1956343C3390}">
      <dgm:prSet/>
      <dgm:spPr/>
      <dgm:t>
        <a:bodyPr/>
        <a:lstStyle/>
        <a:p>
          <a:endParaRPr lang="es-AR"/>
        </a:p>
      </dgm:t>
    </dgm:pt>
    <dgm:pt modelId="{30144E4C-02D6-4F65-86FD-DBAD9683602B}" type="pres">
      <dgm:prSet presAssocID="{55721F08-CFC5-47AE-AA4F-2C18733BFCEC}" presName="Name0" presStyleCnt="0">
        <dgm:presLayoutVars>
          <dgm:dir/>
          <dgm:animLvl val="lvl"/>
          <dgm:resizeHandles val="exact"/>
        </dgm:presLayoutVars>
      </dgm:prSet>
      <dgm:spPr/>
    </dgm:pt>
    <dgm:pt modelId="{6C6FDAE0-9091-4629-9071-D28EC8C8E8AF}" type="pres">
      <dgm:prSet presAssocID="{B1F26CF5-7A2D-4536-9F97-D7D437907F5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0A5A947F-735C-4454-A9B9-9C54FF0820AC}" type="pres">
      <dgm:prSet presAssocID="{DE11440B-ADDF-4C84-BF15-5CD9AFF98849}" presName="parTxOnlySpace" presStyleCnt="0"/>
      <dgm:spPr/>
    </dgm:pt>
    <dgm:pt modelId="{DEE47EED-8B2B-4659-B30A-4C1AD09EF7B5}" type="pres">
      <dgm:prSet presAssocID="{D72689B1-5A75-4951-A2FB-14CD8B2A0221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AF22D892-684A-407E-9A00-01BD2699783B}" type="pres">
      <dgm:prSet presAssocID="{E5CA6AAB-2071-4483-94B7-B0BC3D98F1EF}" presName="parTxOnlySpace" presStyleCnt="0"/>
      <dgm:spPr/>
    </dgm:pt>
    <dgm:pt modelId="{D44F0185-01B9-46A9-981A-4EB38AF048F2}" type="pres">
      <dgm:prSet presAssocID="{DB8FE8FB-B120-46F6-A77F-311D5C3B08F2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FAAE02BE-AF83-45E5-A05F-D89C5A4BB5BC}" type="pres">
      <dgm:prSet presAssocID="{DECB317B-BAC8-47FA-AA2A-33B06EA7DC59}" presName="parTxOnlySpace" presStyleCnt="0"/>
      <dgm:spPr/>
    </dgm:pt>
    <dgm:pt modelId="{90CE4976-6A77-4F7A-BC46-E8682F920F8C}" type="pres">
      <dgm:prSet presAssocID="{8CF19CCA-2202-4A79-8F19-6A050402418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0B33289E-708F-4FF7-A784-4A3DD9BAB869}" type="pres">
      <dgm:prSet presAssocID="{3D004948-6569-4579-91EE-8E7DDBAD43B7}" presName="parTxOnlySpace" presStyleCnt="0"/>
      <dgm:spPr/>
    </dgm:pt>
    <dgm:pt modelId="{C65F6A5B-5477-4801-A9AF-36FFA39951FC}" type="pres">
      <dgm:prSet presAssocID="{1012DF7D-426D-4D3C-8AB8-C16ABF9C970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</dgm:ptLst>
  <dgm:cxnLst>
    <dgm:cxn modelId="{093577FA-C0C0-442F-A3AE-EC90BAFBC0D9}" srcId="{55721F08-CFC5-47AE-AA4F-2C18733BFCEC}" destId="{B1F26CF5-7A2D-4536-9F97-D7D437907F5F}" srcOrd="0" destOrd="0" parTransId="{3F8BCD66-6389-4080-B8A7-F48C2DACDB2D}" sibTransId="{DE11440B-ADDF-4C84-BF15-5CD9AFF98849}"/>
    <dgm:cxn modelId="{27E0D6AC-DC43-40FA-BC35-C714D3929682}" srcId="{55721F08-CFC5-47AE-AA4F-2C18733BFCEC}" destId="{8CF19CCA-2202-4A79-8F19-6A0504024186}" srcOrd="3" destOrd="0" parTransId="{1C1A0310-3C67-4A39-805B-B1EFACB52DEB}" sibTransId="{3D004948-6569-4579-91EE-8E7DDBAD43B7}"/>
    <dgm:cxn modelId="{DC9FC957-2318-4A61-8D4F-E2FFF906943F}" type="presOf" srcId="{55721F08-CFC5-47AE-AA4F-2C18733BFCEC}" destId="{30144E4C-02D6-4F65-86FD-DBAD9683602B}" srcOrd="0" destOrd="0" presId="urn:microsoft.com/office/officeart/2005/8/layout/chevron1"/>
    <dgm:cxn modelId="{AC3D41B2-F00D-459D-8F63-CB20B80900D4}" type="presOf" srcId="{1012DF7D-426D-4D3C-8AB8-C16ABF9C970D}" destId="{C65F6A5B-5477-4801-A9AF-36FFA39951FC}" srcOrd="0" destOrd="0" presId="urn:microsoft.com/office/officeart/2005/8/layout/chevron1"/>
    <dgm:cxn modelId="{6F6E8962-92BF-4140-85F2-4F7B79FCAA8D}" type="presOf" srcId="{8CF19CCA-2202-4A79-8F19-6A0504024186}" destId="{90CE4976-6A77-4F7A-BC46-E8682F920F8C}" srcOrd="0" destOrd="0" presId="urn:microsoft.com/office/officeart/2005/8/layout/chevron1"/>
    <dgm:cxn modelId="{29DCB6C0-E2AA-4550-86BC-1956343C3390}" srcId="{55721F08-CFC5-47AE-AA4F-2C18733BFCEC}" destId="{1012DF7D-426D-4D3C-8AB8-C16ABF9C970D}" srcOrd="4" destOrd="0" parTransId="{89DF9C7F-0B01-4642-A1ED-7A067EDDC449}" sibTransId="{447C38E5-BC53-4DE9-9706-5A21FF8989AC}"/>
    <dgm:cxn modelId="{FAC579CA-9B8C-411A-82BC-EAE499025F0E}" srcId="{55721F08-CFC5-47AE-AA4F-2C18733BFCEC}" destId="{DB8FE8FB-B120-46F6-A77F-311D5C3B08F2}" srcOrd="2" destOrd="0" parTransId="{2902E580-A435-4410-B356-174C7421C53F}" sibTransId="{DECB317B-BAC8-47FA-AA2A-33B06EA7DC59}"/>
    <dgm:cxn modelId="{7AF3FAE4-8A3D-4DE9-9840-832968F30A6E}" type="presOf" srcId="{B1F26CF5-7A2D-4536-9F97-D7D437907F5F}" destId="{6C6FDAE0-9091-4629-9071-D28EC8C8E8AF}" srcOrd="0" destOrd="0" presId="urn:microsoft.com/office/officeart/2005/8/layout/chevron1"/>
    <dgm:cxn modelId="{C7F13792-DEDE-4FFE-87B1-EC7DD5786C1B}" srcId="{55721F08-CFC5-47AE-AA4F-2C18733BFCEC}" destId="{D72689B1-5A75-4951-A2FB-14CD8B2A0221}" srcOrd="1" destOrd="0" parTransId="{055B95EC-703B-41FF-A7BF-D019A586C2AC}" sibTransId="{E5CA6AAB-2071-4483-94B7-B0BC3D98F1EF}"/>
    <dgm:cxn modelId="{DCAA81DE-3FCB-43C7-9A75-8D16F2FA613D}" type="presOf" srcId="{D72689B1-5A75-4951-A2FB-14CD8B2A0221}" destId="{DEE47EED-8B2B-4659-B30A-4C1AD09EF7B5}" srcOrd="0" destOrd="0" presId="urn:microsoft.com/office/officeart/2005/8/layout/chevron1"/>
    <dgm:cxn modelId="{2926F869-1932-4770-9744-2B9C712FEECF}" type="presOf" srcId="{DB8FE8FB-B120-46F6-A77F-311D5C3B08F2}" destId="{D44F0185-01B9-46A9-981A-4EB38AF048F2}" srcOrd="0" destOrd="0" presId="urn:microsoft.com/office/officeart/2005/8/layout/chevron1"/>
    <dgm:cxn modelId="{C09F24FB-1193-4F0A-963A-1A7C67EA1A3E}" type="presParOf" srcId="{30144E4C-02D6-4F65-86FD-DBAD9683602B}" destId="{6C6FDAE0-9091-4629-9071-D28EC8C8E8AF}" srcOrd="0" destOrd="0" presId="urn:microsoft.com/office/officeart/2005/8/layout/chevron1"/>
    <dgm:cxn modelId="{FB26AC26-7AA0-4F4A-94DD-B834F1B099D5}" type="presParOf" srcId="{30144E4C-02D6-4F65-86FD-DBAD9683602B}" destId="{0A5A947F-735C-4454-A9B9-9C54FF0820AC}" srcOrd="1" destOrd="0" presId="urn:microsoft.com/office/officeart/2005/8/layout/chevron1"/>
    <dgm:cxn modelId="{1B560F9A-0C77-47DF-8D7D-17212B8596CE}" type="presParOf" srcId="{30144E4C-02D6-4F65-86FD-DBAD9683602B}" destId="{DEE47EED-8B2B-4659-B30A-4C1AD09EF7B5}" srcOrd="2" destOrd="0" presId="urn:microsoft.com/office/officeart/2005/8/layout/chevron1"/>
    <dgm:cxn modelId="{57D06FE6-496D-4760-9A37-3355B830A894}" type="presParOf" srcId="{30144E4C-02D6-4F65-86FD-DBAD9683602B}" destId="{AF22D892-684A-407E-9A00-01BD2699783B}" srcOrd="3" destOrd="0" presId="urn:microsoft.com/office/officeart/2005/8/layout/chevron1"/>
    <dgm:cxn modelId="{8C88ABB7-D0B1-495A-8444-1260CDD43F92}" type="presParOf" srcId="{30144E4C-02D6-4F65-86FD-DBAD9683602B}" destId="{D44F0185-01B9-46A9-981A-4EB38AF048F2}" srcOrd="4" destOrd="0" presId="urn:microsoft.com/office/officeart/2005/8/layout/chevron1"/>
    <dgm:cxn modelId="{9E7FDC96-A1FB-43CD-B239-F21C926C8C0B}" type="presParOf" srcId="{30144E4C-02D6-4F65-86FD-DBAD9683602B}" destId="{FAAE02BE-AF83-45E5-A05F-D89C5A4BB5BC}" srcOrd="5" destOrd="0" presId="urn:microsoft.com/office/officeart/2005/8/layout/chevron1"/>
    <dgm:cxn modelId="{37307382-02D2-4BD8-88E9-2FA722B5A824}" type="presParOf" srcId="{30144E4C-02D6-4F65-86FD-DBAD9683602B}" destId="{90CE4976-6A77-4F7A-BC46-E8682F920F8C}" srcOrd="6" destOrd="0" presId="urn:microsoft.com/office/officeart/2005/8/layout/chevron1"/>
    <dgm:cxn modelId="{3446969F-2CA7-47BE-AB27-E0D01963C57F}" type="presParOf" srcId="{30144E4C-02D6-4F65-86FD-DBAD9683602B}" destId="{0B33289E-708F-4FF7-A784-4A3DD9BAB869}" srcOrd="7" destOrd="0" presId="urn:microsoft.com/office/officeart/2005/8/layout/chevron1"/>
    <dgm:cxn modelId="{CD882A40-DE8C-400C-B5A4-107B1ACA852B}" type="presParOf" srcId="{30144E4C-02D6-4F65-86FD-DBAD9683602B}" destId="{C65F6A5B-5477-4801-A9AF-36FFA39951F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0758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664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067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0436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7694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5835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5413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3206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5404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33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5648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1094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7863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4382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9818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8868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598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2264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2529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43239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3020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3607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HITO 2</a:t>
            </a:r>
          </a:p>
          <a:p>
            <a:pPr algn="r"/>
            <a:r>
              <a:rPr lang="es-ES" sz="2000" kern="0" spc="-1" dirty="0" smtClean="0">
                <a:solidFill>
                  <a:srgbClr val="FFFFFF"/>
                </a:solidFill>
                <a:latin typeface="Alfabet ExtraBold"/>
              </a:rPr>
              <a:t>Entrega Nº 1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Hitos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611560" y="980728"/>
            <a:ext cx="4104456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1: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Menú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Seguridad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Personas / POF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Gestión de Cabeceras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Procesamiento de Archivos</a:t>
            </a:r>
          </a:p>
          <a:p>
            <a:pPr>
              <a:lnSpc>
                <a:spcPct val="100000"/>
              </a:lnSpc>
            </a:pPr>
            <a:endParaRPr lang="es-ES" sz="16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2: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Paramétricas del módulo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Registro general de Bajas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Gestión de Movimientos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Registro </a:t>
            </a: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de Inasistencias y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Bajas para el período de la Mecanizada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pPr>
              <a:lnSpc>
                <a:spcPct val="100000"/>
              </a:lnSpc>
            </a:pPr>
            <a:endParaRPr lang="es-ES" sz="16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408171920"/>
              </p:ext>
            </p:extLst>
          </p:nvPr>
        </p:nvGraphicFramePr>
        <p:xfrm>
          <a:off x="251520" y="4848912"/>
          <a:ext cx="8712968" cy="1172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CuadroTexto 2"/>
          <p:cNvSpPr/>
          <p:nvPr/>
        </p:nvSpPr>
        <p:spPr>
          <a:xfrm>
            <a:off x="4788024" y="982757"/>
            <a:ext cx="4104456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3: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Cálculos de Devoluciones</a:t>
            </a:r>
          </a:p>
          <a:p>
            <a:pPr>
              <a:lnSpc>
                <a:spcPct val="100000"/>
              </a:lnSpc>
            </a:pPr>
            <a:endParaRPr lang="es-ES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4: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Reportes y Rendiciones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2" name="Estrella de 5 puntas 1"/>
          <p:cNvSpPr/>
          <p:nvPr/>
        </p:nvSpPr>
        <p:spPr>
          <a:xfrm>
            <a:off x="3635896" y="3284984"/>
            <a:ext cx="144016" cy="144016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strella de 5 puntas 10"/>
          <p:cNvSpPr/>
          <p:nvPr/>
        </p:nvSpPr>
        <p:spPr>
          <a:xfrm>
            <a:off x="3635896" y="3501008"/>
            <a:ext cx="144016" cy="144016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strella de 5 puntas 11"/>
          <p:cNvSpPr/>
          <p:nvPr/>
        </p:nvSpPr>
        <p:spPr>
          <a:xfrm>
            <a:off x="3635896" y="3717032"/>
            <a:ext cx="144016" cy="144016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strella de 5 puntas 12"/>
          <p:cNvSpPr/>
          <p:nvPr/>
        </p:nvSpPr>
        <p:spPr>
          <a:xfrm>
            <a:off x="6300192" y="4692918"/>
            <a:ext cx="144016" cy="144016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CuadroTexto 2"/>
          <p:cNvSpPr/>
          <p:nvPr/>
        </p:nvSpPr>
        <p:spPr>
          <a:xfrm>
            <a:off x="6444208" y="4596376"/>
            <a:ext cx="2448272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chemeClr val="accent6">
                    <a:lumMod val="75000"/>
                  </a:schemeClr>
                </a:solidFill>
                <a:latin typeface="Alfabet Medium"/>
                <a:ea typeface="DejaVu Sans"/>
              </a:rPr>
              <a:t>Nuevo Requerimiento</a:t>
            </a:r>
            <a:endParaRPr lang="es-AR" sz="1600" spc="-1" dirty="0">
              <a:solidFill>
                <a:schemeClr val="accent6">
                  <a:lumMod val="75000"/>
                </a:schemeClr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18482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Hito 2 - Generalidades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2" name="Grupo 1"/>
          <p:cNvGrpSpPr/>
          <p:nvPr/>
        </p:nvGrpSpPr>
        <p:grpSpPr>
          <a:xfrm>
            <a:off x="577752" y="1302153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0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Propósito</a:t>
              </a:r>
              <a:endParaRPr lang="es-AR" sz="2000" b="0" strike="noStrike" spc="-1" dirty="0">
                <a:latin typeface="Arial"/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1998132"/>
            <a:ext cx="8208464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pc="-1" dirty="0">
                <a:solidFill>
                  <a:srgbClr val="FFFFFF"/>
                </a:solidFill>
                <a:latin typeface="Alfabet Medium"/>
                <a:ea typeface="DejaVu Sans"/>
              </a:rPr>
              <a:t>Diseñar e implementar los módulos que permitan registrar, controlar y validar los movimientos docentes, inasistencias y bajas.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pc="-1" dirty="0">
                <a:solidFill>
                  <a:srgbClr val="FFFFFF"/>
                </a:solidFill>
                <a:latin typeface="Alfabet Medium"/>
                <a:ea typeface="DejaVu Sans"/>
              </a:rPr>
              <a:t>Asegurar la trazabilidad, consistencia y verificación de los </a:t>
            </a: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datos</a:t>
            </a:r>
            <a:endParaRPr lang="es-ES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66554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Hito 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</a:t>
              </a: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 Componentes del Hito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0" name="CuadroTexto 2"/>
          <p:cNvSpPr/>
          <p:nvPr/>
        </p:nvSpPr>
        <p:spPr>
          <a:xfrm>
            <a:off x="611560" y="1228978"/>
            <a:ext cx="7200800" cy="427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</a:t>
            </a: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Motivos de Bajas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Tipos de Movimientos</a:t>
            </a:r>
            <a:endParaRPr lang="es-ES" sz="16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endParaRPr lang="es-ES" sz="16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Gestión de Movimientos: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Cabecera y Detalle (Altas, Bajas, Modificaciones y Adicionales)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pPr>
              <a:lnSpc>
                <a:spcPct val="100000"/>
              </a:lnSpc>
            </a:pP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Gestión de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Inasistencias: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Registro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Envío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Verificación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Corrección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pPr>
              <a:lnSpc>
                <a:spcPct val="100000"/>
              </a:lnSpc>
            </a:pP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Gestión de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Bajas: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Carga y Seguimiento por Establecimiento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pPr>
              <a:lnSpc>
                <a:spcPct val="100000"/>
              </a:lnSpc>
            </a:pPr>
            <a:endParaRPr lang="es-ES" sz="16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60239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u="sng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 del Hito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980" y="1717169"/>
            <a:ext cx="2225233" cy="3627434"/>
          </a:xfrm>
          <a:prstGeom prst="rect">
            <a:avLst/>
          </a:prstGeom>
        </p:spPr>
      </p:pic>
      <p:sp>
        <p:nvSpPr>
          <p:cNvPr id="4" name="Elipse 3"/>
          <p:cNvSpPr/>
          <p:nvPr/>
        </p:nvSpPr>
        <p:spPr>
          <a:xfrm>
            <a:off x="2123728" y="4581128"/>
            <a:ext cx="36004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lecha a la derecha con bandas 6"/>
          <p:cNvSpPr/>
          <p:nvPr/>
        </p:nvSpPr>
        <p:spPr>
          <a:xfrm>
            <a:off x="2987824" y="3356992"/>
            <a:ext cx="648072" cy="43204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3516" y="1048701"/>
            <a:ext cx="2266667" cy="4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 - Motivos de Bajas: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1916832"/>
            <a:ext cx="8895118" cy="296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5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 – Tipos de Movimientos: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1931179"/>
            <a:ext cx="8967994" cy="293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1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Movimientos Docentes - Cabecera: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2051825"/>
            <a:ext cx="8964488" cy="2279523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7524328" y="4643750"/>
            <a:ext cx="720080" cy="58545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274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Movimientos Docentes - Cabecera: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2051825"/>
            <a:ext cx="8964488" cy="2279523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2364215" y="1584604"/>
            <a:ext cx="2783850" cy="9343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LIQUIDACIONES</a:t>
            </a:r>
          </a:p>
          <a:p>
            <a:r>
              <a:rPr lang="es-ES" sz="1200" dirty="0"/>
              <a:t>LICENCIAS POR </a:t>
            </a:r>
            <a:r>
              <a:rPr lang="es-ES" sz="1200" dirty="0" smtClean="0"/>
              <a:t>ENFERMEDAD</a:t>
            </a:r>
          </a:p>
          <a:p>
            <a:r>
              <a:rPr lang="es-ES" sz="1200" dirty="0" smtClean="0"/>
              <a:t>ASIGNACIONES FAMILIARES</a:t>
            </a:r>
          </a:p>
          <a:p>
            <a:r>
              <a:rPr lang="es-ES" sz="1200" dirty="0" smtClean="0"/>
              <a:t>COORDINACION ADMINISTRATIVA</a:t>
            </a:r>
            <a:endParaRPr lang="es-AR" sz="1200" dirty="0"/>
          </a:p>
        </p:txBody>
      </p:sp>
      <p:sp>
        <p:nvSpPr>
          <p:cNvPr id="10" name="Rectángulo 9"/>
          <p:cNvSpPr/>
          <p:nvPr/>
        </p:nvSpPr>
        <p:spPr>
          <a:xfrm>
            <a:off x="77706" y="2051825"/>
            <a:ext cx="1829998" cy="467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1763688" y="1901463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1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3833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Movimientos Docentes - Cabecera: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2051825"/>
            <a:ext cx="8964488" cy="2279523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93360" y="2457785"/>
            <a:ext cx="8960883" cy="467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4932040" y="2831964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s-AR" dirty="0"/>
          </a:p>
        </p:txBody>
      </p:sp>
      <p:sp>
        <p:nvSpPr>
          <p:cNvPr id="12" name="Rectángulo 11"/>
          <p:cNvSpPr/>
          <p:nvPr/>
        </p:nvSpPr>
        <p:spPr>
          <a:xfrm>
            <a:off x="4572000" y="1988840"/>
            <a:ext cx="4496387" cy="467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redondeado 8"/>
          <p:cNvSpPr/>
          <p:nvPr/>
        </p:nvSpPr>
        <p:spPr>
          <a:xfrm>
            <a:off x="5428268" y="2801539"/>
            <a:ext cx="2783850" cy="57606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AÑO – MES - ESTABLECIMIENTO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385464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Movimientos Docentes - Cabecera: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2051825"/>
            <a:ext cx="8964488" cy="2279523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93361" y="2852936"/>
            <a:ext cx="2822456" cy="467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2886558" y="2894544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s-AR" dirty="0"/>
          </a:p>
        </p:txBody>
      </p:sp>
      <p:sp>
        <p:nvSpPr>
          <p:cNvPr id="9" name="Rectángulo redondeado 8"/>
          <p:cNvSpPr/>
          <p:nvPr/>
        </p:nvSpPr>
        <p:spPr>
          <a:xfrm>
            <a:off x="3400795" y="2664771"/>
            <a:ext cx="2783850" cy="84348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MARCAR LOS MOVIMIENTOS QUE SE DETALLARÁN LUEGO Y QUE CORRESPONDEN AL ENCABEZADO DEL REPORTE</a:t>
            </a:r>
            <a:endParaRPr lang="es-AR" sz="1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2720" y="3761617"/>
            <a:ext cx="3972812" cy="107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9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Movimientos Docentes - Cabecera: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1556792"/>
            <a:ext cx="8964488" cy="2279523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4739626" y="2708920"/>
            <a:ext cx="3216750" cy="10063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Al guardar la cabecera, se guardan los datos que permitirán obtener el encabezado del reporte y así poder cargar el detalle de movimientos del Establecimiento – Año – Mes en cuestión</a:t>
            </a:r>
            <a:endParaRPr lang="es-AR" sz="1200" dirty="0"/>
          </a:p>
        </p:txBody>
      </p:sp>
      <p:sp>
        <p:nvSpPr>
          <p:cNvPr id="11" name="Elipse 10"/>
          <p:cNvSpPr/>
          <p:nvPr/>
        </p:nvSpPr>
        <p:spPr>
          <a:xfrm>
            <a:off x="8028384" y="3221999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4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56" y="4238574"/>
            <a:ext cx="7980952" cy="1428571"/>
          </a:xfrm>
          <a:prstGeom prst="rect">
            <a:avLst/>
          </a:prstGeom>
        </p:spPr>
      </p:pic>
      <p:sp>
        <p:nvSpPr>
          <p:cNvPr id="4" name="Flecha abajo 3"/>
          <p:cNvSpPr/>
          <p:nvPr/>
        </p:nvSpPr>
        <p:spPr>
          <a:xfrm>
            <a:off x="5580112" y="3789040"/>
            <a:ext cx="360040" cy="500552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2336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Movimientos Docentes – Detalle 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(</a:t>
            </a:r>
            <a:r>
              <a:rPr lang="es-ES" sz="2000" b="0" u="sng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ALTAS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):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00808"/>
            <a:ext cx="8604000" cy="3495743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5436096" y="259789"/>
            <a:ext cx="3528392" cy="8307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 smtClean="0"/>
              <a:t>Por cada Movimiento se cargará un registro con los siguientes datos:</a:t>
            </a:r>
            <a:endParaRPr lang="es-AR" sz="1600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4321730" y="3933056"/>
            <a:ext cx="4411565" cy="170033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Si el tipo de Movimiento es ALTA, se habilitan los campos Tipo y </a:t>
            </a:r>
            <a:r>
              <a:rPr lang="es-ES" sz="1200" dirty="0" err="1" smtClean="0"/>
              <a:t>Nro</a:t>
            </a:r>
            <a:r>
              <a:rPr lang="es-ES" sz="1200" dirty="0" smtClean="0"/>
              <a:t> Documento.</a:t>
            </a:r>
            <a:br>
              <a:rPr lang="es-ES" sz="1200" dirty="0" smtClean="0"/>
            </a:br>
            <a:r>
              <a:rPr lang="es-ES" sz="1200" dirty="0" smtClean="0"/>
              <a:t>El usuario completa el </a:t>
            </a:r>
            <a:r>
              <a:rPr lang="es-ES" sz="1200" dirty="0" err="1" smtClean="0"/>
              <a:t>Nro</a:t>
            </a:r>
            <a:r>
              <a:rPr lang="es-ES" sz="1200" dirty="0" smtClean="0"/>
              <a:t> de Documento: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smtClean="0"/>
              <a:t>si existe un Docente en base de datos se completan los campos Apellido y Nombre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s</a:t>
            </a:r>
            <a:r>
              <a:rPr lang="es-ES" sz="1200" dirty="0" smtClean="0"/>
              <a:t>i no existe un docente en base de datos, se habilitan los campos Apellido y Nombre para que se carguen manualmente</a:t>
            </a:r>
            <a:endParaRPr lang="es-AR" sz="1200" dirty="0"/>
          </a:p>
        </p:txBody>
      </p:sp>
      <p:sp>
        <p:nvSpPr>
          <p:cNvPr id="2" name="Rectángulo redondeado 1"/>
          <p:cNvSpPr/>
          <p:nvPr/>
        </p:nvSpPr>
        <p:spPr>
          <a:xfrm>
            <a:off x="4553520" y="1726416"/>
            <a:ext cx="1674664" cy="407299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redondeado 3"/>
          <p:cNvSpPr/>
          <p:nvPr/>
        </p:nvSpPr>
        <p:spPr>
          <a:xfrm>
            <a:off x="323528" y="1734226"/>
            <a:ext cx="2864181" cy="3994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3985261" y="4591251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  <a:endParaRPr lang="es-AR" dirty="0"/>
          </a:p>
        </p:txBody>
      </p:sp>
      <p:sp>
        <p:nvSpPr>
          <p:cNvPr id="15" name="Elipse 14"/>
          <p:cNvSpPr/>
          <p:nvPr/>
        </p:nvSpPr>
        <p:spPr>
          <a:xfrm>
            <a:off x="3016648" y="1545798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5,1</a:t>
            </a:r>
            <a:endParaRPr lang="es-AR" sz="800" dirty="0"/>
          </a:p>
        </p:txBody>
      </p:sp>
      <p:sp>
        <p:nvSpPr>
          <p:cNvPr id="16" name="Elipse 15"/>
          <p:cNvSpPr/>
          <p:nvPr/>
        </p:nvSpPr>
        <p:spPr>
          <a:xfrm>
            <a:off x="6024844" y="1523399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5,2</a:t>
            </a:r>
            <a:endParaRPr lang="es-AR" sz="800" dirty="0"/>
          </a:p>
        </p:txBody>
      </p:sp>
      <p:sp>
        <p:nvSpPr>
          <p:cNvPr id="17" name="Rectángulo redondeado 16"/>
          <p:cNvSpPr/>
          <p:nvPr/>
        </p:nvSpPr>
        <p:spPr>
          <a:xfrm>
            <a:off x="323528" y="2133715"/>
            <a:ext cx="5904656" cy="407299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lipse 17"/>
          <p:cNvSpPr/>
          <p:nvPr/>
        </p:nvSpPr>
        <p:spPr>
          <a:xfrm>
            <a:off x="6032878" y="2299282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5,3</a:t>
            </a:r>
            <a:endParaRPr lang="es-AR" sz="800" dirty="0"/>
          </a:p>
        </p:txBody>
      </p:sp>
    </p:spTree>
    <p:extLst>
      <p:ext uri="{BB962C8B-B14F-4D97-AF65-F5344CB8AC3E}">
        <p14:creationId xmlns:p14="http://schemas.microsoft.com/office/powerpoint/2010/main" val="97105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Movimientos Docentes – Detalle 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(BAJAS/ MODIFICACIONES 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/ 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ADICIONALES):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934726"/>
            <a:ext cx="8388424" cy="3510498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4365138" y="4731915"/>
            <a:ext cx="4411565" cy="92933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Si el tipo de Movimiento es BAJA / MODIFICACION / ADICIONAL, se habilita un combo para que se seleccione un docente de la POF.</a:t>
            </a:r>
          </a:p>
        </p:txBody>
      </p:sp>
      <p:sp>
        <p:nvSpPr>
          <p:cNvPr id="9" name="Elipse 8"/>
          <p:cNvSpPr/>
          <p:nvPr/>
        </p:nvSpPr>
        <p:spPr>
          <a:xfrm>
            <a:off x="3985261" y="5051158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6</a:t>
            </a:r>
            <a:endParaRPr lang="es-AR" dirty="0"/>
          </a:p>
        </p:txBody>
      </p:sp>
      <p:sp>
        <p:nvSpPr>
          <p:cNvPr id="10" name="Rectángulo redondeado 9"/>
          <p:cNvSpPr/>
          <p:nvPr/>
        </p:nvSpPr>
        <p:spPr>
          <a:xfrm>
            <a:off x="323528" y="2033252"/>
            <a:ext cx="2864181" cy="3994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3016648" y="1844824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6,1</a:t>
            </a:r>
            <a:endParaRPr lang="es-AR" sz="800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323528" y="2432741"/>
            <a:ext cx="5904656" cy="407299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/>
          <p:cNvSpPr/>
          <p:nvPr/>
        </p:nvSpPr>
        <p:spPr>
          <a:xfrm>
            <a:off x="6032878" y="2598308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6,2</a:t>
            </a:r>
            <a:endParaRPr lang="es-AR" sz="800" dirty="0"/>
          </a:p>
        </p:txBody>
      </p:sp>
    </p:spTree>
    <p:extLst>
      <p:ext uri="{BB962C8B-B14F-4D97-AF65-F5344CB8AC3E}">
        <p14:creationId xmlns:p14="http://schemas.microsoft.com/office/powerpoint/2010/main" val="270651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Movimientos Docentes – Detalle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</a:rPr>
              <a:t>(para todos los tipos de movimientos):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944691"/>
            <a:ext cx="8604000" cy="3495743"/>
          </a:xfrm>
          <a:prstGeom prst="rect">
            <a:avLst/>
          </a:prstGeom>
        </p:spPr>
      </p:pic>
      <p:sp>
        <p:nvSpPr>
          <p:cNvPr id="19" name="Rectángulo redondeado 18"/>
          <p:cNvSpPr/>
          <p:nvPr/>
        </p:nvSpPr>
        <p:spPr>
          <a:xfrm>
            <a:off x="4644008" y="2328287"/>
            <a:ext cx="4411565" cy="121006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De acuerdo al Tipo de Movimiento, se mostrará una lista filtrada de Observaciones (las que se encuentran dadas de alta en la paramétrica).</a:t>
            </a:r>
          </a:p>
          <a:p>
            <a:r>
              <a:rPr lang="es-ES" sz="1200" dirty="0" smtClean="0"/>
              <a:t>Una vez seleccionada una opción del combo, se copia el valor en el campo de abajo para que se puedan editar los valores variables (Fechas, DNI, Nombres, etc.)</a:t>
            </a:r>
            <a:endParaRPr lang="es-ES" sz="1200" dirty="0" smtClean="0"/>
          </a:p>
        </p:txBody>
      </p:sp>
      <p:sp>
        <p:nvSpPr>
          <p:cNvPr id="20" name="Elipse 19"/>
          <p:cNvSpPr/>
          <p:nvPr/>
        </p:nvSpPr>
        <p:spPr>
          <a:xfrm>
            <a:off x="4264131" y="2928262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  <a:endParaRPr lang="es-AR" dirty="0"/>
          </a:p>
        </p:txBody>
      </p:sp>
      <p:sp>
        <p:nvSpPr>
          <p:cNvPr id="21" name="Rectángulo redondeado 20"/>
          <p:cNvSpPr/>
          <p:nvPr/>
        </p:nvSpPr>
        <p:spPr>
          <a:xfrm>
            <a:off x="323528" y="2033252"/>
            <a:ext cx="2864181" cy="3994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Elipse 21"/>
          <p:cNvSpPr/>
          <p:nvPr/>
        </p:nvSpPr>
        <p:spPr>
          <a:xfrm>
            <a:off x="3016648" y="1844824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/>
              <a:t>7</a:t>
            </a:r>
            <a:r>
              <a:rPr lang="es-ES" sz="800" dirty="0" smtClean="0"/>
              <a:t>,1</a:t>
            </a:r>
            <a:endParaRPr lang="es-AR" sz="800" dirty="0"/>
          </a:p>
        </p:txBody>
      </p:sp>
      <p:sp>
        <p:nvSpPr>
          <p:cNvPr id="24" name="Rectángulo redondeado 23"/>
          <p:cNvSpPr/>
          <p:nvPr/>
        </p:nvSpPr>
        <p:spPr>
          <a:xfrm>
            <a:off x="323528" y="4148122"/>
            <a:ext cx="5904656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/>
          <p:cNvSpPr/>
          <p:nvPr/>
        </p:nvSpPr>
        <p:spPr>
          <a:xfrm>
            <a:off x="6057123" y="3849633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/>
              <a:t>7</a:t>
            </a:r>
            <a:r>
              <a:rPr lang="es-ES" sz="800" dirty="0" smtClean="0"/>
              <a:t>,2</a:t>
            </a:r>
            <a:endParaRPr lang="es-AR" sz="800" dirty="0"/>
          </a:p>
        </p:txBody>
      </p:sp>
      <p:sp>
        <p:nvSpPr>
          <p:cNvPr id="26" name="Rectángulo redondeado 25"/>
          <p:cNvSpPr/>
          <p:nvPr/>
        </p:nvSpPr>
        <p:spPr>
          <a:xfrm>
            <a:off x="323528" y="4567367"/>
            <a:ext cx="5904656" cy="564326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lipse 26"/>
          <p:cNvSpPr/>
          <p:nvPr/>
        </p:nvSpPr>
        <p:spPr>
          <a:xfrm>
            <a:off x="6057123" y="4521923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7</a:t>
            </a:r>
            <a:r>
              <a:rPr lang="es-ES" sz="800" dirty="0" smtClean="0"/>
              <a:t>,3</a:t>
            </a:r>
            <a:endParaRPr lang="es-AR" sz="800" dirty="0"/>
          </a:p>
        </p:txBody>
      </p:sp>
      <p:sp>
        <p:nvSpPr>
          <p:cNvPr id="5" name="Flecha curvada hacia la izquierda 4"/>
          <p:cNvSpPr/>
          <p:nvPr/>
        </p:nvSpPr>
        <p:spPr>
          <a:xfrm>
            <a:off x="6660232" y="4213182"/>
            <a:ext cx="212996" cy="55047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16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Bajas - Listado: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"/>
          <a:stretch/>
        </p:blipFill>
        <p:spPr>
          <a:xfrm>
            <a:off x="107504" y="1806811"/>
            <a:ext cx="8963214" cy="3350381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5364088" y="589174"/>
            <a:ext cx="3528392" cy="8307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 smtClean="0"/>
              <a:t>Circuito para reemplazar el archivo Excel con el registro de bajas anuales de docentes</a:t>
            </a:r>
            <a:endParaRPr lang="es-AR" sz="1600" dirty="0"/>
          </a:p>
        </p:txBody>
      </p:sp>
      <p:sp>
        <p:nvSpPr>
          <p:cNvPr id="9" name="Rectángulo redondeado 8"/>
          <p:cNvSpPr/>
          <p:nvPr/>
        </p:nvSpPr>
        <p:spPr>
          <a:xfrm>
            <a:off x="1619672" y="3593264"/>
            <a:ext cx="6768752" cy="10598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 redondeado 12"/>
          <p:cNvSpPr/>
          <p:nvPr/>
        </p:nvSpPr>
        <p:spPr>
          <a:xfrm>
            <a:off x="2145373" y="2459503"/>
            <a:ext cx="6243051" cy="3934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redondeado 10"/>
          <p:cNvSpPr/>
          <p:nvPr/>
        </p:nvSpPr>
        <p:spPr>
          <a:xfrm>
            <a:off x="6871480" y="2645454"/>
            <a:ext cx="2016224" cy="66866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Filtros por Año y Nivel</a:t>
            </a:r>
          </a:p>
        </p:txBody>
      </p:sp>
      <p:sp>
        <p:nvSpPr>
          <p:cNvPr id="12" name="Elipse 11"/>
          <p:cNvSpPr/>
          <p:nvPr/>
        </p:nvSpPr>
        <p:spPr>
          <a:xfrm>
            <a:off x="6309740" y="2768619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2349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Bajas - Listado: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"/>
          <a:stretch/>
        </p:blipFill>
        <p:spPr>
          <a:xfrm>
            <a:off x="107504" y="1806811"/>
            <a:ext cx="8963214" cy="3350381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2198683" y="2708920"/>
            <a:ext cx="1869262" cy="3994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redondeado 10"/>
          <p:cNvSpPr/>
          <p:nvPr/>
        </p:nvSpPr>
        <p:spPr>
          <a:xfrm>
            <a:off x="4193070" y="2328287"/>
            <a:ext cx="2016224" cy="66866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/>
              <a:t>Nuevo registro de BAJA</a:t>
            </a:r>
          </a:p>
        </p:txBody>
      </p:sp>
      <p:sp>
        <p:nvSpPr>
          <p:cNvPr id="12" name="Elipse 11"/>
          <p:cNvSpPr/>
          <p:nvPr/>
        </p:nvSpPr>
        <p:spPr>
          <a:xfrm>
            <a:off x="3923928" y="2758983"/>
            <a:ext cx="428488" cy="38394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7568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Bajas – Nuevo Registro: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8" r="3179" b="2936"/>
          <a:stretch/>
        </p:blipFill>
        <p:spPr>
          <a:xfrm>
            <a:off x="655137" y="1591903"/>
            <a:ext cx="8261939" cy="4253903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1259632" y="2852936"/>
            <a:ext cx="3060836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862740" y="2708123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2,1</a:t>
            </a:r>
            <a:endParaRPr lang="es-AR" sz="800" dirty="0"/>
          </a:p>
        </p:txBody>
      </p:sp>
      <p:sp>
        <p:nvSpPr>
          <p:cNvPr id="10" name="Rectángulo redondeado 9"/>
          <p:cNvSpPr/>
          <p:nvPr/>
        </p:nvSpPr>
        <p:spPr>
          <a:xfrm>
            <a:off x="4738405" y="2856932"/>
            <a:ext cx="1201747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Flecha curvada hacia abajo 1"/>
          <p:cNvSpPr/>
          <p:nvPr/>
        </p:nvSpPr>
        <p:spPr>
          <a:xfrm>
            <a:off x="4225824" y="2636912"/>
            <a:ext cx="598453" cy="1440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1259632" y="3293352"/>
            <a:ext cx="3060836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redondeado 13"/>
          <p:cNvSpPr/>
          <p:nvPr/>
        </p:nvSpPr>
        <p:spPr>
          <a:xfrm>
            <a:off x="4572000" y="3284984"/>
            <a:ext cx="2209859" cy="66866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 smtClean="0"/>
              <a:t>Listado de docentes de la POF del Establecimiento – DNI – Secuencia – Apellido y Nombre</a:t>
            </a:r>
          </a:p>
        </p:txBody>
      </p:sp>
      <p:sp>
        <p:nvSpPr>
          <p:cNvPr id="13" name="Elipse 12"/>
          <p:cNvSpPr/>
          <p:nvPr/>
        </p:nvSpPr>
        <p:spPr>
          <a:xfrm>
            <a:off x="4177487" y="3339596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2,2</a:t>
            </a:r>
            <a:endParaRPr lang="es-AR" sz="800" dirty="0"/>
          </a:p>
        </p:txBody>
      </p:sp>
    </p:spTree>
    <p:extLst>
      <p:ext uri="{BB962C8B-B14F-4D97-AF65-F5344CB8AC3E}">
        <p14:creationId xmlns:p14="http://schemas.microsoft.com/office/powerpoint/2010/main" val="320391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Bajas – Nuevo Registro: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8" r="3179" b="2936"/>
          <a:stretch/>
        </p:blipFill>
        <p:spPr>
          <a:xfrm>
            <a:off x="655137" y="1591903"/>
            <a:ext cx="8261939" cy="4253903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1315509" y="3655227"/>
            <a:ext cx="6556015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 redondeado 11"/>
          <p:cNvSpPr/>
          <p:nvPr/>
        </p:nvSpPr>
        <p:spPr>
          <a:xfrm>
            <a:off x="4810689" y="3281426"/>
            <a:ext cx="3060836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redondeado 13"/>
          <p:cNvSpPr/>
          <p:nvPr/>
        </p:nvSpPr>
        <p:spPr>
          <a:xfrm>
            <a:off x="1907705" y="2690984"/>
            <a:ext cx="2736528" cy="96424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 smtClean="0"/>
              <a:t>Suplente: Si para el DNI ingresado existe un Docente, el sistema completa Apellido y Nombre, de lo contrario el usuario completa estos campos</a:t>
            </a:r>
          </a:p>
        </p:txBody>
      </p:sp>
      <p:sp>
        <p:nvSpPr>
          <p:cNvPr id="9" name="Elipse 8"/>
          <p:cNvSpPr/>
          <p:nvPr/>
        </p:nvSpPr>
        <p:spPr>
          <a:xfrm>
            <a:off x="4543037" y="2902227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2,3</a:t>
            </a:r>
            <a:endParaRPr lang="es-AR" sz="800" dirty="0"/>
          </a:p>
        </p:txBody>
      </p:sp>
    </p:spTree>
    <p:extLst>
      <p:ext uri="{BB962C8B-B14F-4D97-AF65-F5344CB8AC3E}">
        <p14:creationId xmlns:p14="http://schemas.microsoft.com/office/powerpoint/2010/main" val="160929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Bajas – Nuevo Registro: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8" r="3179" b="2936"/>
          <a:stretch/>
        </p:blipFill>
        <p:spPr>
          <a:xfrm>
            <a:off x="655137" y="1591903"/>
            <a:ext cx="8261939" cy="4253903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4663624" y="4351343"/>
            <a:ext cx="3060836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redondeado 13"/>
          <p:cNvSpPr/>
          <p:nvPr/>
        </p:nvSpPr>
        <p:spPr>
          <a:xfrm>
            <a:off x="6417507" y="4587686"/>
            <a:ext cx="2613905" cy="66866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 smtClean="0"/>
              <a:t>Lista de Motivos (que se encuentran dados de alta en la paramétrica). </a:t>
            </a:r>
            <a:r>
              <a:rPr lang="es-ES" sz="1100" dirty="0" err="1" smtClean="0"/>
              <a:t>Ej</a:t>
            </a:r>
            <a:r>
              <a:rPr lang="es-ES" sz="1100" dirty="0" smtClean="0"/>
              <a:t>: Cese / Lic. No Subvencionada, etc. </a:t>
            </a:r>
          </a:p>
        </p:txBody>
      </p:sp>
      <p:sp>
        <p:nvSpPr>
          <p:cNvPr id="13" name="Elipse 12"/>
          <p:cNvSpPr/>
          <p:nvPr/>
        </p:nvSpPr>
        <p:spPr>
          <a:xfrm>
            <a:off x="6084168" y="5017633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2,5</a:t>
            </a:r>
            <a:endParaRPr lang="es-AR" sz="800" dirty="0"/>
          </a:p>
        </p:txBody>
      </p:sp>
      <p:sp>
        <p:nvSpPr>
          <p:cNvPr id="19" name="Rectángulo redondeado 18"/>
          <p:cNvSpPr/>
          <p:nvPr/>
        </p:nvSpPr>
        <p:spPr>
          <a:xfrm>
            <a:off x="1331640" y="3919295"/>
            <a:ext cx="6392820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 redondeado 19"/>
          <p:cNvSpPr/>
          <p:nvPr/>
        </p:nvSpPr>
        <p:spPr>
          <a:xfrm>
            <a:off x="540000" y="3331918"/>
            <a:ext cx="2613905" cy="51887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 smtClean="0"/>
              <a:t>Inicio y Fin (opcional) de la Baja</a:t>
            </a:r>
            <a:endParaRPr lang="es-ES" sz="1100" dirty="0"/>
          </a:p>
          <a:p>
            <a:r>
              <a:rPr lang="es-ES" sz="1100" dirty="0" err="1" smtClean="0"/>
              <a:t>Cant</a:t>
            </a:r>
            <a:r>
              <a:rPr lang="es-ES" sz="1100" dirty="0" smtClean="0"/>
              <a:t>. </a:t>
            </a:r>
            <a:r>
              <a:rPr lang="es-ES" sz="1100" dirty="0" smtClean="0"/>
              <a:t>Horas (opcional</a:t>
            </a:r>
            <a:endParaRPr lang="es-ES" sz="1100" dirty="0" smtClean="0"/>
          </a:p>
        </p:txBody>
      </p:sp>
      <p:sp>
        <p:nvSpPr>
          <p:cNvPr id="21" name="Elipse 20"/>
          <p:cNvSpPr/>
          <p:nvPr/>
        </p:nvSpPr>
        <p:spPr>
          <a:xfrm>
            <a:off x="2914937" y="3022784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2,4</a:t>
            </a:r>
            <a:endParaRPr lang="es-AR" sz="800" dirty="0"/>
          </a:p>
        </p:txBody>
      </p:sp>
      <p:sp>
        <p:nvSpPr>
          <p:cNvPr id="22" name="Rectángulo redondeado 21"/>
          <p:cNvSpPr/>
          <p:nvPr/>
        </p:nvSpPr>
        <p:spPr>
          <a:xfrm>
            <a:off x="1331640" y="4372156"/>
            <a:ext cx="792088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405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 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124744"/>
            <a:ext cx="8208464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Bajas – Nuevo Registro: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8" r="3179" b="2936"/>
          <a:stretch/>
        </p:blipFill>
        <p:spPr>
          <a:xfrm>
            <a:off x="655137" y="1591903"/>
            <a:ext cx="8261939" cy="4253903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4764816" y="4672923"/>
            <a:ext cx="3060836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redondeado 13"/>
          <p:cNvSpPr/>
          <p:nvPr/>
        </p:nvSpPr>
        <p:spPr>
          <a:xfrm>
            <a:off x="5353285" y="4243058"/>
            <a:ext cx="2826373" cy="48275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 smtClean="0"/>
              <a:t>Ingreso: Listado de Meses + Sin Haberes</a:t>
            </a:r>
            <a:r>
              <a:rPr lang="es-ES" sz="1100" dirty="0" smtClean="0"/>
              <a:t> </a:t>
            </a:r>
          </a:p>
        </p:txBody>
      </p:sp>
      <p:sp>
        <p:nvSpPr>
          <p:cNvPr id="13" name="Elipse 12"/>
          <p:cNvSpPr/>
          <p:nvPr/>
        </p:nvSpPr>
        <p:spPr>
          <a:xfrm>
            <a:off x="7785217" y="3975113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2,7</a:t>
            </a:r>
            <a:endParaRPr lang="es-AR" sz="800" dirty="0"/>
          </a:p>
        </p:txBody>
      </p:sp>
      <p:sp>
        <p:nvSpPr>
          <p:cNvPr id="22" name="Rectángulo redondeado 21"/>
          <p:cNvSpPr/>
          <p:nvPr/>
        </p:nvSpPr>
        <p:spPr>
          <a:xfrm>
            <a:off x="1259632" y="4639375"/>
            <a:ext cx="792088" cy="373801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 redondeado 19"/>
          <p:cNvSpPr/>
          <p:nvPr/>
        </p:nvSpPr>
        <p:spPr>
          <a:xfrm>
            <a:off x="1763688" y="4956814"/>
            <a:ext cx="2613905" cy="51887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dirty="0" smtClean="0"/>
              <a:t>Estado: Pendiente / Hecho</a:t>
            </a:r>
          </a:p>
        </p:txBody>
      </p:sp>
      <p:sp>
        <p:nvSpPr>
          <p:cNvPr id="21" name="Elipse 20"/>
          <p:cNvSpPr/>
          <p:nvPr/>
        </p:nvSpPr>
        <p:spPr>
          <a:xfrm>
            <a:off x="2073784" y="4538243"/>
            <a:ext cx="486137" cy="48346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smtClean="0"/>
              <a:t>2,6</a:t>
            </a:r>
            <a:endParaRPr lang="es-AR" sz="800" dirty="0"/>
          </a:p>
        </p:txBody>
      </p:sp>
    </p:spTree>
    <p:extLst>
      <p:ext uri="{BB962C8B-B14F-4D97-AF65-F5344CB8AC3E}">
        <p14:creationId xmlns:p14="http://schemas.microsoft.com/office/powerpoint/2010/main" val="367313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-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 Beneficios Esperados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8" name="CuadroTexto 2"/>
          <p:cNvSpPr/>
          <p:nvPr/>
        </p:nvSpPr>
        <p:spPr>
          <a:xfrm>
            <a:off x="540000" y="1641282"/>
            <a:ext cx="8208464" cy="22453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Mejora en la trazabilidad de los Movimientos docentes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Carga y Control de Inasistencias y Bajas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Validaciones cruzadas para prevenir inconsistencias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Reducción de cargas manuales y planillas paralelas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Generación de reportes para envío a Provincia</a:t>
            </a:r>
          </a:p>
        </p:txBody>
      </p:sp>
    </p:spTree>
    <p:extLst>
      <p:ext uri="{BB962C8B-B14F-4D97-AF65-F5344CB8AC3E}">
        <p14:creationId xmlns:p14="http://schemas.microsoft.com/office/powerpoint/2010/main" val="20953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>
                  <a:solidFill>
                    <a:srgbClr val="FFFFFF"/>
                  </a:solidFill>
                  <a:latin typeface="Alfabet ExtraBold"/>
                  <a:ea typeface="Roboto Medium"/>
                </a:rPr>
                <a:t>Hito 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2 - Próximos Pasos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8" name="CuadroTexto 2"/>
          <p:cNvSpPr/>
          <p:nvPr/>
        </p:nvSpPr>
        <p:spPr>
          <a:xfrm>
            <a:off x="540000" y="1641282"/>
            <a:ext cx="8208464" cy="30147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Pruebas integradas de usuarios: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spc="-1" dirty="0" err="1" smtClean="0">
                <a:solidFill>
                  <a:srgbClr val="FFFFFF"/>
                </a:solidFill>
                <a:latin typeface="Alfabet Medium"/>
                <a:ea typeface="DejaVu Sans"/>
              </a:rPr>
              <a:t>Testing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 de paramétricas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spc="-1" dirty="0" err="1" smtClean="0">
                <a:solidFill>
                  <a:srgbClr val="FFFFFF"/>
                </a:solidFill>
                <a:latin typeface="Alfabet Medium"/>
                <a:ea typeface="DejaVu Sans"/>
              </a:rPr>
              <a:t>Testing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 de módulo de bajas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spc="-1" dirty="0" err="1" smtClean="0">
                <a:solidFill>
                  <a:srgbClr val="FFFFFF"/>
                </a:solidFill>
                <a:latin typeface="Alfabet Medium"/>
                <a:ea typeface="DejaVu Sans"/>
              </a:rPr>
              <a:t>Testing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 de módulo de movimientos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spc="-1" dirty="0" err="1" smtClean="0">
                <a:solidFill>
                  <a:srgbClr val="FFFFFF"/>
                </a:solidFill>
                <a:latin typeface="Alfabet Medium"/>
                <a:ea typeface="DejaVu Sans"/>
              </a:rPr>
              <a:t>Feedback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 entrega parcial Hito 2 (1ra entrega) y ajuste de errores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Análisis, Diseño y Desarrollo 2da entrega Hito 2.</a:t>
            </a:r>
          </a:p>
        </p:txBody>
      </p:sp>
    </p:spTree>
    <p:extLst>
      <p:ext uri="{BB962C8B-B14F-4D97-AF65-F5344CB8AC3E}">
        <p14:creationId xmlns:p14="http://schemas.microsoft.com/office/powerpoint/2010/main" val="129594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ubTitle"/>
          </p:nvPr>
        </p:nvSpPr>
        <p:spPr>
          <a:xfrm>
            <a:off x="457200" y="540000"/>
            <a:ext cx="8228880" cy="530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4400" b="0" strike="noStrike" spc="-1" dirty="0" smtClean="0">
                <a:solidFill>
                  <a:srgbClr val="FFFFFF"/>
                </a:solidFill>
                <a:latin typeface="Alfabet ExtraBold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s-AR" sz="4400" spc="-1" dirty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endParaRPr lang="es-AR" sz="4400" b="0" strike="noStrike" spc="-1" dirty="0" smtClean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endParaRPr lang="es-AR" sz="4400" b="0" strike="noStrike" spc="-1" dirty="0" smtClean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MUCHAS </a:t>
            </a:r>
            <a:r>
              <a:rPr lang="es-AR" sz="4400" b="0" strike="noStrike" spc="-1" dirty="0">
                <a:solidFill>
                  <a:srgbClr val="FFFFFF"/>
                </a:solidFill>
                <a:latin typeface="Alfabet ExtraBold"/>
              </a:rPr>
              <a:t>GRACIAS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264" name="263 Imagen"/>
          <p:cNvPicPr/>
          <p:nvPr/>
        </p:nvPicPr>
        <p:blipFill>
          <a:blip r:embed="rId2" cstate="print"/>
          <a:stretch/>
        </p:blipFill>
        <p:spPr>
          <a:xfrm>
            <a:off x="0" y="5465160"/>
            <a:ext cx="9143280" cy="1374480"/>
          </a:xfrm>
          <a:prstGeom prst="rect">
            <a:avLst/>
          </a:prstGeom>
          <a:ln w="0">
            <a:noFill/>
          </a:ln>
        </p:spPr>
      </p:pic>
      <p:grpSp>
        <p:nvGrpSpPr>
          <p:cNvPr id="4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5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Preguntas y Respuestas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2" name="Rectángulo 1"/>
          <p:cNvSpPr/>
          <p:nvPr/>
        </p:nvSpPr>
        <p:spPr>
          <a:xfrm>
            <a:off x="1185480" y="1412776"/>
            <a:ext cx="6698888" cy="2232248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s-AR"/>
          </a:p>
        </p:txBody>
      </p:sp>
      <p:sp>
        <p:nvSpPr>
          <p:cNvPr id="3" name="Elipse 2"/>
          <p:cNvSpPr/>
          <p:nvPr/>
        </p:nvSpPr>
        <p:spPr>
          <a:xfrm>
            <a:off x="1637524" y="1988840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637524" y="2255584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/>
          <p:cNvSpPr/>
          <p:nvPr/>
        </p:nvSpPr>
        <p:spPr>
          <a:xfrm>
            <a:off x="1637524" y="2522328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1637524" y="2789072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10356</TotalTime>
  <Words>749</Words>
  <Application>Microsoft Office PowerPoint</Application>
  <PresentationFormat>Presentación en pantalla (4:3)</PresentationFormat>
  <Paragraphs>171</Paragraphs>
  <Slides>24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24</vt:i4>
      </vt:variant>
    </vt:vector>
  </HeadingPairs>
  <TitlesOfParts>
    <vt:vector size="35" baseType="lpstr">
      <vt:lpstr>Alfabet ExtraBold</vt:lpstr>
      <vt:lpstr>Alfabet Medium</vt:lpstr>
      <vt:lpstr>Arial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141</cp:revision>
  <dcterms:created xsi:type="dcterms:W3CDTF">2024-04-17T14:44:25Z</dcterms:created>
  <dcterms:modified xsi:type="dcterms:W3CDTF">2025-06-10T14:24:21Z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